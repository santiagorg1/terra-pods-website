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>
              <a:alpha val="57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isn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2377440" cy="138198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8079" y="667512"/>
            <a:ext cx="548640" cy="8000"/>
          </a:xfrm>
          <a:prstGeom prst="rect">
            <a:avLst/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868680"/>
            <a:ext cx="4160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300">
                <a:solidFill>
                  <a:srgbClr val="3AA0FF"/>
                </a:solidFill>
                <a:latin typeface="Helvetica Neue"/>
              </a:rPr>
              <a:t>FULL-SERVICE GLOBAL LOGISTICS 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371600"/>
            <a:ext cx="4160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-10">
                <a:solidFill>
                  <a:srgbClr val="FFFFFF"/>
                </a:solidFill>
                <a:latin typeface="Helvetica Neue"/>
              </a:rPr>
              <a:t>Customs Brokerage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700784"/>
            <a:ext cx="4160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-10">
                <a:solidFill>
                  <a:srgbClr val="FFFFFF"/>
                </a:solidFill>
                <a:latin typeface="Helvetica Neue"/>
              </a:rPr>
              <a:t>Freight Forwarding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029968"/>
            <a:ext cx="4160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-10">
                <a:solidFill>
                  <a:srgbClr val="FFFFFF"/>
                </a:solidFill>
                <a:latin typeface="Helvetica Neue"/>
              </a:rPr>
              <a:t>Ocean · Air · 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359152"/>
            <a:ext cx="4160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-10">
                <a:solidFill>
                  <a:srgbClr val="FFFFFF"/>
                </a:solidFill>
                <a:latin typeface="Helvetica Neue"/>
              </a:rPr>
              <a:t>Bonded Yard &amp; Freight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688336"/>
            <a:ext cx="4160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-10">
                <a:solidFill>
                  <a:srgbClr val="FFFFFF"/>
                </a:solidFill>
                <a:latin typeface="Helvetica Neue"/>
              </a:rPr>
              <a:t>Logistics Brokerage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017520"/>
            <a:ext cx="4160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-10">
                <a:solidFill>
                  <a:srgbClr val="FFFFFF"/>
                </a:solidFill>
                <a:latin typeface="Helvetica Neue"/>
              </a:rPr>
              <a:t>Import &amp; Export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3AA0FF"/>
                </a:solidFill>
                <a:latin typeface="Helvetica Neue"/>
              </a:rPr>
              <a:t>COMPANY PROFILE  · 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0" b="1" spc="-200">
                <a:solidFill>
                  <a:srgbClr val="FFFFFF"/>
                </a:solidFill>
                <a:latin typeface="Helvetica Neue"/>
              </a:rPr>
              <a:t>Take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80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0" b="1" spc="-200">
                <a:solidFill>
                  <a:srgbClr val="3AA0FF"/>
                </a:solidFill>
                <a:latin typeface="Helvetica Neue"/>
              </a:rPr>
              <a:t>of your border.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54864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3AA0FF"/>
                </a:solidFill>
                <a:latin typeface="Helvetica Neue"/>
              </a:rP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80">
                <a:solidFill>
                  <a:srgbClr val="FFFFFF"/>
                </a:solidFill>
                <a:latin typeface="Helvetica Neue"/>
              </a:rPr>
              <a:t>One team for 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80">
                <a:solidFill>
                  <a:srgbClr val="3AA0FF"/>
                </a:solidFill>
                <a:latin typeface="Helvetica Neue"/>
              </a:rPr>
              <a:t>entire border lifecycle.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7772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 b="0">
                <a:solidFill>
                  <a:srgbClr val="BCC3CF"/>
                </a:solidFill>
                <a:latin typeface="Helvetica Neue"/>
              </a:rPr>
              <a:t>ISN Customs Broker International simplifies cross-border trade — licensed U.S. customs brokerage and integrated logistics under one accountable team. Compliant shipments. Predictable costs. Freight that keeps moving.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4023360"/>
            <a:ext cx="2468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85000"/>
              </a:lnSpc>
            </a:pPr>
            <a:r>
              <a:rPr sz="14000" b="1" spc="-500">
                <a:solidFill>
                  <a:srgbClr val="FFFFFF"/>
                </a:solidFill>
                <a:latin typeface="Helvetica Neue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55321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spc="280">
                <a:solidFill>
                  <a:srgbClr val="3AA0FF"/>
                </a:solidFill>
                <a:latin typeface="Helvetica Neue"/>
              </a:rPr>
              <a:t>YEARS ON THE U.S.–MEXICO BORDER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280">
                <a:solidFill>
                  <a:srgbClr val="5A6577"/>
                </a:solidFill>
                <a:latin typeface="Helvetica Neue"/>
              </a:rPr>
              <a:t>ISN CUSTOMS BROKER INTERNATIONAL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280">
                <a:solidFill>
                  <a:srgbClr val="5A6577"/>
                </a:solidFill>
                <a:latin typeface="Helvetica Neue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54864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3AA0FF"/>
                </a:solidFill>
                <a:latin typeface="Helvetica Neue"/>
              </a:rPr>
              <a:t>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160">
                <a:solidFill>
                  <a:srgbClr val="FFFFFF"/>
                </a:solidFill>
                <a:latin typeface="Helvetica Neue"/>
              </a:rPr>
              <a:t>Operational scale,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160">
                <a:solidFill>
                  <a:srgbClr val="8A93A3"/>
                </a:solidFill>
                <a:latin typeface="Helvetica Neue"/>
              </a:rPr>
              <a:t>verified by uptime.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8000" cy="173736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spc="-200">
                <a:solidFill>
                  <a:srgbClr val="FFFFFF"/>
                </a:solidFill>
                <a:latin typeface="Helvetica Neue"/>
              </a:rPr>
              <a:t>35+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spc="250">
                <a:solidFill>
                  <a:srgbClr val="8A93A3"/>
                </a:solidFill>
                <a:latin typeface="Helvetica Neue"/>
              </a:rPr>
              <a:t>Years on the
U.S.–Mexico border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4114800"/>
            <a:ext cx="8000" cy="173736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411480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spc="-200">
                <a:solidFill>
                  <a:srgbClr val="FFFFFF"/>
                </a:solidFill>
                <a:latin typeface="Helvetica Neue"/>
              </a:rPr>
              <a:t>24/7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50292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spc="250">
                <a:solidFill>
                  <a:srgbClr val="8A93A3"/>
                </a:solidFill>
                <a:latin typeface="Helvetica Neue"/>
              </a:rPr>
              <a:t>Operations
365 days a year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114800"/>
            <a:ext cx="8000" cy="173736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1480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spc="-200">
                <a:solidFill>
                  <a:srgbClr val="FFFFFF"/>
                </a:solidFill>
                <a:latin typeface="Helvetica Neue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0292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spc="250">
                <a:solidFill>
                  <a:srgbClr val="8A93A3"/>
                </a:solidFill>
                <a:latin typeface="Helvetica Neue"/>
              </a:rPr>
              <a:t>Licensed U.S.
customs filings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4114800"/>
            <a:ext cx="8000" cy="173736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411480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spc="-200">
                <a:solidFill>
                  <a:srgbClr val="FFFFFF"/>
                </a:solidFill>
                <a:latin typeface="Helvetica Neue"/>
              </a:rPr>
              <a:t>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50292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spc="250">
                <a:solidFill>
                  <a:srgbClr val="8A93A3"/>
                </a:solidFill>
                <a:latin typeface="Helvetica Neue"/>
              </a:rPr>
              <a:t>U.S. ports cleared
via Remote Filing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280">
                <a:solidFill>
                  <a:srgbClr val="5A6577"/>
                </a:solidFill>
                <a:latin typeface="Helvetica Neue"/>
              </a:rPr>
              <a:t>ISN CUSTOMS BROKER INTERNATIONAL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280">
                <a:solidFill>
                  <a:srgbClr val="5A6577"/>
                </a:solidFill>
                <a:latin typeface="Helvetica Neue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54864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3AA0FF"/>
                </a:solidFill>
                <a:latin typeface="Helvetica Neue"/>
              </a:rPr>
              <a:t>WHAT DRIVES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3AA0FF"/>
                </a:solidFill>
                <a:latin typeface="Helvetica Neue"/>
              </a:rP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140">
                <a:solidFill>
                  <a:srgbClr val="FFFFFF"/>
                </a:solidFill>
                <a:latin typeface="Helvetica Neue"/>
              </a:rPr>
              <a:t>Simplify. Optimize.
Deliver.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BCC3CF"/>
                </a:solidFill>
                <a:latin typeface="Helvetica Neue"/>
              </a:rPr>
              <a:t>Your goods, simplified across the border. We remove obstacles, reduce duty exposure, and give you predictable transit times — through one trusted point of contact.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2011680"/>
            <a:ext cx="6000" cy="3931920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011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3AA0FF"/>
                </a:solidFill>
                <a:latin typeface="Helvetica Neue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468880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140">
                <a:solidFill>
                  <a:srgbClr val="FFFFFF"/>
                </a:solidFill>
                <a:latin typeface="Helvetica Neue"/>
              </a:rPr>
              <a:t>Lead with trust.
Move with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29768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BCC3CF"/>
                </a:solidFill>
                <a:latin typeface="Helvetica Neue"/>
              </a:rPr>
              <a:t>We treat your freight like it's our own — guided by C-TPAT validation and an unconditional dedication to safety, accuracy, and on-time delivery.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280">
                <a:solidFill>
                  <a:srgbClr val="5A6577"/>
                </a:solidFill>
                <a:latin typeface="Helvetica Neue"/>
              </a:rPr>
              <a:t>ISN CUSTOMS BROKER INTERNATIONAL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280">
                <a:solidFill>
                  <a:srgbClr val="5A6577"/>
                </a:solidFill>
                <a:latin typeface="Helvetica Neue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lobal-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54864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3AA0FF"/>
                </a:solidFill>
                <a:latin typeface="Helvetica Neue"/>
              </a:rP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80">
                <a:solidFill>
                  <a:srgbClr val="FFFFFF"/>
                </a:solidFill>
                <a:latin typeface="Helvetica Neue"/>
              </a:rPr>
              <a:t>Three integrated pillars.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80">
                <a:solidFill>
                  <a:srgbClr val="3AA0FF"/>
                </a:solidFill>
                <a:latin typeface="Helvetica Neue"/>
              </a:rPr>
              <a:t>One team. One invoice.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BCC3CF"/>
                </a:solidFill>
                <a:latin typeface="Helvetica Neue"/>
              </a:rPr>
              <a:t>Customs clearance, freight movement, and bonded storage — orchestrated under a single accountable point of contact.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280">
                <a:solidFill>
                  <a:srgbClr val="5A6577"/>
                </a:solidFill>
                <a:latin typeface="Helvetica Neue"/>
              </a:rPr>
              <a:t>ISN CUSTOMS BROKER INTERNATIONAL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280">
                <a:solidFill>
                  <a:srgbClr val="5A6577"/>
                </a:solidFill>
                <a:latin typeface="Helvetica Neue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54864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3AA0FF"/>
                </a:solidFill>
                <a:latin typeface="Helvetica Neue"/>
              </a:rPr>
              <a:t>OUR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spc="-140">
                <a:solidFill>
                  <a:srgbClr val="FFFFFF"/>
                </a:solidFill>
                <a:latin typeface="Helvetica Neue"/>
              </a:rPr>
              <a:t>Customs · Freight · Logistics</a:t>
            </a:r>
          </a:p>
        </p:txBody>
      </p:sp>
      <p:pic>
        <p:nvPicPr>
          <p:cNvPr id="6" name="Picture 5" descr="customs-insp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1760"/>
            <a:ext cx="3657600" cy="1828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2651760"/>
            <a:ext cx="3657600" cy="1828800"/>
          </a:xfrm>
          <a:prstGeom prst="rect">
            <a:avLst/>
          </a:prstGeom>
          <a:solidFill>
            <a:srgbClr val="05070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3AA0FF"/>
                </a:solidFill>
                <a:latin typeface="Helvetica Neue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480560"/>
            <a:ext cx="3657600" cy="155448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spc="-80">
                <a:solidFill>
                  <a:srgbClr val="FFFFFF"/>
                </a:solidFill>
                <a:latin typeface="Helvetica Neue"/>
              </a:rPr>
              <a:t>Customs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spc="-80">
                <a:solidFill>
                  <a:srgbClr val="3AA0FF"/>
                </a:solidFill>
                <a:latin typeface="Helvetica Neue"/>
              </a:rPr>
              <a:t>Brokerage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BCC3CF"/>
                </a:solidFill>
                <a:latin typeface="Helvetica Neue"/>
              </a:rPr>
              <a:t>Licensed U.S. entry filing — ACE, ISF, AES, FTZ, in-bond, reconciliation, and bond services.</a:t>
            </a:r>
          </a:p>
        </p:txBody>
      </p:sp>
      <p:pic>
        <p:nvPicPr>
          <p:cNvPr id="13" name="Picture 12" descr="air-car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2651760"/>
            <a:ext cx="3657600" cy="18288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325112" y="2651760"/>
            <a:ext cx="3657600" cy="1828800"/>
          </a:xfrm>
          <a:prstGeom prst="rect">
            <a:avLst/>
          </a:prstGeom>
          <a:solidFill>
            <a:srgbClr val="05070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816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3AA0FF"/>
                </a:solidFill>
                <a:latin typeface="Helvetica Neue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4480560"/>
            <a:ext cx="3657600" cy="155448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46634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spc="-80">
                <a:solidFill>
                  <a:srgbClr val="FFFFFF"/>
                </a:solidFill>
                <a:latin typeface="Helvetica Neue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50292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spc="-80">
                <a:solidFill>
                  <a:srgbClr val="3AA0FF"/>
                </a:solidFill>
                <a:latin typeface="Helvetica Neue"/>
              </a:rPr>
              <a:t>Forwarding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553212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BCC3CF"/>
                </a:solidFill>
                <a:latin typeface="Helvetica Neue"/>
              </a:rPr>
              <a:t>Northbound and southbound cargo by land, air, and ocean. HAZMAT-certified, cross-docked.</a:t>
            </a:r>
          </a:p>
        </p:txBody>
      </p:sp>
      <p:pic>
        <p:nvPicPr>
          <p:cNvPr id="20" name="Picture 19" descr="port-aeri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2651760"/>
            <a:ext cx="3657600" cy="18288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101584" y="2651760"/>
            <a:ext cx="3657600" cy="1828800"/>
          </a:xfrm>
          <a:prstGeom prst="rect">
            <a:avLst/>
          </a:prstGeom>
          <a:solidFill>
            <a:srgbClr val="05070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2816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3AA0FF"/>
                </a:solidFill>
                <a:latin typeface="Helvetica Neue"/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01584" y="4480560"/>
            <a:ext cx="3657600" cy="155448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46634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spc="-80">
                <a:solidFill>
                  <a:srgbClr val="FFFFFF"/>
                </a:solidFill>
                <a:latin typeface="Helvetica Neue"/>
              </a:rPr>
              <a:t>Logistics &amp;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50292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spc="-80">
                <a:solidFill>
                  <a:srgbClr val="3AA0FF"/>
                </a:solidFill>
                <a:latin typeface="Helvetica Neue"/>
              </a:rPr>
              <a:t>Warehousing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553212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BCC3CF"/>
                </a:solidFill>
                <a:latin typeface="Helvetica Neue"/>
              </a:rPr>
              <a:t>CBP-bonded warehouses, bonded yards, contract logistics. Forklifts and heavy equipment, 24/7.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280">
                <a:solidFill>
                  <a:srgbClr val="5A6577"/>
                </a:solidFill>
                <a:latin typeface="Helvetica Neue"/>
              </a:rPr>
              <a:t>ISN CUSTOMS BROKER INTERNATIONAL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280">
                <a:solidFill>
                  <a:srgbClr val="5A6577"/>
                </a:solidFill>
                <a:latin typeface="Helvetica Neue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stoms-insp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05070B">
                  <a:alpha val="88000"/>
                </a:srgbClr>
              </a:gs>
              <a:gs pos="100000">
                <a:srgbClr val="05070B">
                  <a:alpha val="8000"/>
                </a:srgbClr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05070B">
                  <a:alpha val="0"/>
                </a:srgbClr>
              </a:gs>
              <a:gs pos="100000">
                <a:srgbClr val="05070B">
                  <a:alpha val="70000"/>
                </a:srgbClr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0080"/>
            <a:ext cx="54864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3AA0FF"/>
                </a:solidFill>
                <a:latin typeface="Helvetica Neue"/>
              </a:rPr>
              <a:t>SERVICE 01 · CUSTOMS BROKERAGE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7772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80">
                <a:solidFill>
                  <a:srgbClr val="FFFFFF"/>
                </a:solidFill>
                <a:latin typeface="Helvetica Neue"/>
              </a:rPr>
              <a:t>Licensed U.S.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7772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80">
                <a:solidFill>
                  <a:srgbClr val="3AA0FF"/>
                </a:solidFill>
                <a:latin typeface="Helvetica Neue"/>
              </a:rPr>
              <a:t>customs clearance.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BCC3CF"/>
                </a:solidFill>
                <a:latin typeface="Helvetica Neue"/>
              </a:rPr>
              <a:t>Licensed brokers handle the full lifecycle of an import or export entry — from pre-arrival filing to post-entry reconciliation. Proactive duty-and-penalty avoidance, built into every clearance.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280">
                <a:solidFill>
                  <a:srgbClr val="5A6577"/>
                </a:solidFill>
                <a:latin typeface="Helvetica Neue"/>
              </a:rPr>
              <a:t>ISN CUSTOMS BROKER INTERNATIONAL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280">
                <a:solidFill>
                  <a:srgbClr val="5A6577"/>
                </a:solidFill>
                <a:latin typeface="Helvetica Neue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54864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3AA0FF"/>
                </a:solidFill>
                <a:latin typeface="Helvetica Neue"/>
              </a:rPr>
              <a:t>CUSTOMS · FILING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spc="-130">
                <a:solidFill>
                  <a:srgbClr val="FFFFFF"/>
                </a:solidFill>
                <a:latin typeface="Helvetica Neue"/>
              </a:rPr>
              <a:t>Eight filings under one license.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2697480" cy="192024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411480" cy="15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300">
                <a:solidFill>
                  <a:srgbClr val="3AA0FF"/>
                </a:solidFill>
                <a:latin typeface="Helvetica Neue"/>
              </a:rPr>
              <a:t>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spc="-40">
                <a:solidFill>
                  <a:srgbClr val="FFFFFF"/>
                </a:solidFill>
                <a:latin typeface="Helvetica Neue"/>
              </a:rPr>
              <a:t>ACE Entries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>
                <a:solidFill>
                  <a:srgbClr val="8A93A3"/>
                </a:solidFill>
                <a:latin typeface="Helvetica Neue"/>
              </a:rPr>
              <a:t>Pre-entry clearance via the Automated Commercial Environment.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2743200"/>
            <a:ext cx="2697480" cy="192024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5848" y="2743200"/>
            <a:ext cx="411480" cy="15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9260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300">
                <a:solidFill>
                  <a:srgbClr val="3AA0FF"/>
                </a:solidFill>
                <a:latin typeface="Helvetica Neue"/>
              </a:rPr>
              <a:t>ISF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246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spc="-40">
                <a:solidFill>
                  <a:srgbClr val="FFFFFF"/>
                </a:solidFill>
                <a:latin typeface="Helvetica Neue"/>
              </a:rPr>
              <a:t>ISF 10+2 Filing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70332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>
                <a:solidFill>
                  <a:srgbClr val="8A93A3"/>
                </a:solidFill>
                <a:latin typeface="Helvetica Neue"/>
              </a:rPr>
              <a:t>Importer Security Filing submitted before vessel loading.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2743200"/>
            <a:ext cx="2697480" cy="192024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2743200"/>
            <a:ext cx="411480" cy="15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29260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300">
                <a:solidFill>
                  <a:srgbClr val="3AA0FF"/>
                </a:solidFill>
                <a:latin typeface="Helvetica Neue"/>
              </a:rPr>
              <a:t>AES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3246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spc="-40">
                <a:solidFill>
                  <a:srgbClr val="FFFFFF"/>
                </a:solidFill>
                <a:latin typeface="Helvetica Neue"/>
              </a:rPr>
              <a:t>AES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70332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>
                <a:solidFill>
                  <a:srgbClr val="8A93A3"/>
                </a:solidFill>
                <a:latin typeface="Helvetica Neue"/>
              </a:rPr>
              <a:t>Automated Export System filing for U.S. outbound shipments.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0264" y="2743200"/>
            <a:ext cx="2697480" cy="192024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70264" y="2743200"/>
            <a:ext cx="411480" cy="15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8864" y="29260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300">
                <a:solidFill>
                  <a:srgbClr val="3AA0FF"/>
                </a:solidFill>
                <a:latin typeface="Helvetica Neue"/>
              </a:rPr>
              <a:t>FTZ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3246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spc="-40">
                <a:solidFill>
                  <a:srgbClr val="FFFFFF"/>
                </a:solidFill>
                <a:latin typeface="Helvetica Neue"/>
              </a:rPr>
              <a:t>Foreign Trade Zones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370332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>
                <a:solidFill>
                  <a:srgbClr val="8A93A3"/>
                </a:solidFill>
                <a:latin typeface="Helvetica Neue"/>
              </a:rPr>
              <a:t>Entries under FTZ status to defer or reduce duty.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73168"/>
            <a:ext cx="2697480" cy="192024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773168"/>
            <a:ext cx="411480" cy="15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956048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300">
                <a:solidFill>
                  <a:srgbClr val="3AA0FF"/>
                </a:solidFill>
                <a:latin typeface="Helvetica Neue"/>
              </a:rPr>
              <a:t>IB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7608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spc="-40">
                <a:solidFill>
                  <a:srgbClr val="FFFFFF"/>
                </a:solidFill>
                <a:latin typeface="Helvetica Neue"/>
              </a:rPr>
              <a:t>In-Bond (QP/QX)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33288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>
                <a:solidFill>
                  <a:srgbClr val="8A93A3"/>
                </a:solidFill>
                <a:latin typeface="Helvetica Neue"/>
              </a:rPr>
              <a:t>Bonded movement of merchandise between U.S. ports.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55848" y="4773168"/>
            <a:ext cx="2697480" cy="192024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5848" y="4773168"/>
            <a:ext cx="411480" cy="15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84448" y="4956048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300">
                <a:solidFill>
                  <a:srgbClr val="3AA0FF"/>
                </a:solidFill>
                <a:latin typeface="Helvetica Neue"/>
              </a:rPr>
              <a:t>RC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4448" y="527608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spc="-40">
                <a:solidFill>
                  <a:srgbClr val="FFFFFF"/>
                </a:solidFill>
                <a:latin typeface="Helvetica Neue"/>
              </a:rPr>
              <a:t>Reconciliations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84448" y="5733288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>
                <a:solidFill>
                  <a:srgbClr val="8A93A3"/>
                </a:solidFill>
                <a:latin typeface="Helvetica Neue"/>
              </a:rPr>
              <a:t>Post-entry reconciliation, GO, and Blue Letter responses.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63056" y="4773168"/>
            <a:ext cx="2697480" cy="192024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63056" y="4773168"/>
            <a:ext cx="411480" cy="15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4956048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300">
                <a:solidFill>
                  <a:srgbClr val="3AA0FF"/>
                </a:solidFill>
                <a:latin typeface="Helvetica Neue"/>
              </a:rPr>
              <a:t>TIB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527608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spc="-40">
                <a:solidFill>
                  <a:srgbClr val="FFFFFF"/>
                </a:solidFill>
                <a:latin typeface="Helvetica Neue"/>
              </a:rPr>
              <a:t>Temporary Imports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656" y="5733288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>
                <a:solidFill>
                  <a:srgbClr val="8A93A3"/>
                </a:solidFill>
                <a:latin typeface="Helvetica Neue"/>
              </a:rPr>
              <a:t>TIB entries for goods entering the U.S. on a temporary basis.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70264" y="4773168"/>
            <a:ext cx="2697480" cy="192024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70264" y="4773168"/>
            <a:ext cx="411480" cy="15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98864" y="4956048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300">
                <a:solidFill>
                  <a:srgbClr val="3AA0FF"/>
                </a:solidFill>
                <a:latin typeface="Helvetica Neue"/>
              </a:rPr>
              <a:t>ACH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98864" y="527608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spc="-40">
                <a:solidFill>
                  <a:srgbClr val="FFFFFF"/>
                </a:solidFill>
                <a:latin typeface="Helvetica Neue"/>
              </a:rPr>
              <a:t>ACH Payments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864" y="5733288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>
                <a:solidFill>
                  <a:srgbClr val="8A93A3"/>
                </a:solidFill>
                <a:latin typeface="Helvetica Neue"/>
              </a:rPr>
              <a:t>ACH statements and customs bond management.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280">
                <a:solidFill>
                  <a:srgbClr val="5A6577"/>
                </a:solidFill>
                <a:latin typeface="Helvetica Neue"/>
              </a:rPr>
              <a:t>ISN CUSTOMS BROKER INTERNATIONAL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280">
                <a:solidFill>
                  <a:srgbClr val="5A6577"/>
                </a:solidFill>
                <a:latin typeface="Helvetica Neue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istics-strate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05070B">
                  <a:alpha val="82000"/>
                </a:srgbClr>
              </a:gs>
              <a:gs pos="100000">
                <a:srgbClr val="05070B">
                  <a:alpha val="20000"/>
                </a:srgbClr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05070B">
                  <a:alpha val="0"/>
                </a:srgbClr>
              </a:gs>
              <a:gs pos="100000">
                <a:srgbClr val="05070B">
                  <a:alpha val="75000"/>
                </a:srgbClr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0080"/>
            <a:ext cx="54864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3AA0FF"/>
                </a:solidFill>
                <a:latin typeface="Helvetica Neue"/>
              </a:rPr>
              <a:t>SERVICE 02 · FREIGHT FORWARDING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80">
                <a:solidFill>
                  <a:srgbClr val="FFFFFF"/>
                </a:solidFill>
                <a:latin typeface="Helvetica Neue"/>
              </a:rPr>
              <a:t>Moving cargo across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80">
                <a:solidFill>
                  <a:srgbClr val="3AA0FF"/>
                </a:solidFill>
                <a:latin typeface="Helvetica Neue"/>
              </a:rPr>
              <a:t>borders, oceans, and skies.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BCC3CF"/>
                </a:solidFill>
                <a:latin typeface="Helvetica Neue"/>
              </a:rPr>
              <a:t>Physical movement of your goods across the U.S.–Mexico border and beyond — trucking, ocean, and air freight under one accountable team. One invoice. No handoff gaps.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280">
                <a:solidFill>
                  <a:srgbClr val="5A6577"/>
                </a:solidFill>
                <a:latin typeface="Helvetica Neue"/>
              </a:rPr>
              <a:t>ISN CUSTOMS BROKER INTERNATIONAL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280">
                <a:solidFill>
                  <a:srgbClr val="5A6577"/>
                </a:solidFill>
                <a:latin typeface="Helvetica Neue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r-car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05070B">
                  <a:alpha val="88000"/>
                </a:srgbClr>
              </a:gs>
              <a:gs pos="100000">
                <a:srgbClr val="05070B">
                  <a:alpha val="10000"/>
                </a:srgbClr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05070B">
                  <a:alpha val="0"/>
                </a:srgbClr>
              </a:gs>
              <a:gs pos="100000">
                <a:srgbClr val="05070B">
                  <a:alpha val="72000"/>
                </a:srgbClr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0080"/>
            <a:ext cx="54864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3AA0FF"/>
                </a:solidFill>
                <a:latin typeface="Helvetica Neue"/>
              </a:rPr>
              <a:t>MODE · AIR FREIGHT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7772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80">
                <a:solidFill>
                  <a:srgbClr val="FFFFFF"/>
                </a:solidFill>
                <a:latin typeface="Helvetica Neue"/>
              </a:rPr>
              <a:t>Air freight,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80">
                <a:solidFill>
                  <a:srgbClr val="3AA0FF"/>
                </a:solidFill>
                <a:latin typeface="Helvetica Neue"/>
              </a:rPr>
              <a:t>origin to destination.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01184"/>
            <a:ext cx="22860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7548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CC3CF"/>
                </a:solidFill>
                <a:latin typeface="Helvetica Neue"/>
              </a:rPr>
              <a:t>Coordinated international air cargo from global suppliers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285232"/>
            <a:ext cx="22860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13892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CC3CF"/>
                </a:solidFill>
                <a:latin typeface="Helvetica Neue"/>
              </a:rPr>
              <a:t>Time-critical handling at major U.S. gateways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80"/>
            <a:ext cx="22860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2297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CC3CF"/>
                </a:solidFill>
                <a:latin typeface="Helvetica Neue"/>
              </a:rPr>
              <a:t>Door-to-door visibility and customs pre-clearance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053328"/>
            <a:ext cx="22860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907024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CC3CF"/>
                </a:solidFill>
                <a:latin typeface="Helvetica Neue"/>
              </a:rPr>
              <a:t>HAZMAT-certified handling, DOT/CBP compliant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280">
                <a:solidFill>
                  <a:srgbClr val="5A6577"/>
                </a:solidFill>
                <a:latin typeface="Helvetica Neue"/>
              </a:rPr>
              <a:t>ISN CUSTOMS BROKER INTERNATIONAL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280">
                <a:solidFill>
                  <a:srgbClr val="5A6577"/>
                </a:solidFill>
                <a:latin typeface="Helvetica Neue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rt-aeri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05070B">
                  <a:alpha val="86000"/>
                </a:srgbClr>
              </a:gs>
              <a:gs pos="100000">
                <a:srgbClr val="05070B">
                  <a:alpha val="12000"/>
                </a:srgbClr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05070B">
                  <a:alpha val="0"/>
                </a:srgbClr>
              </a:gs>
              <a:gs pos="100000">
                <a:srgbClr val="05070B">
                  <a:alpha val="72000"/>
                </a:srgbClr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0080"/>
            <a:ext cx="54864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3AA0FF"/>
                </a:solidFill>
                <a:latin typeface="Helvetica Neue"/>
              </a:rPr>
              <a:t>MODE · OCEAN FREIGHT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8686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80">
                <a:solidFill>
                  <a:srgbClr val="FFFFFF"/>
                </a:solidFill>
                <a:latin typeface="Helvetica Neue"/>
              </a:rPr>
              <a:t>Ocean freight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80">
                <a:solidFill>
                  <a:srgbClr val="3AA0FF"/>
                </a:solidFill>
                <a:latin typeface="Helvetica Neue"/>
              </a:rPr>
              <a:t>&amp; port coordination.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01184"/>
            <a:ext cx="22860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7548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CC3CF"/>
                </a:solidFill>
                <a:latin typeface="Helvetica Neue"/>
              </a:rPr>
              <a:t>FCL and LCL ocean coordination worldwide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285232"/>
            <a:ext cx="22860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13892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CC3CF"/>
                </a:solidFill>
                <a:latin typeface="Helvetica Neue"/>
              </a:rPr>
              <a:t>ISF 10+2 filing pre-loaded against every booking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80"/>
            <a:ext cx="22860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2297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CC3CF"/>
                </a:solidFill>
                <a:latin typeface="Helvetica Neue"/>
              </a:rPr>
              <a:t>Drayage and cross-dock at U.S. ports of arrival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053328"/>
            <a:ext cx="22860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907024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CC3CF"/>
                </a:solidFill>
                <a:latin typeface="Helvetica Neue"/>
              </a:rPr>
              <a:t>Direct relationships with carriers and port terminals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280">
                <a:solidFill>
                  <a:srgbClr val="5A6577"/>
                </a:solidFill>
                <a:latin typeface="Helvetica Neue"/>
              </a:rPr>
              <a:t>ISN CUSTOMS BROKER INTERNATIONAL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280">
                <a:solidFill>
                  <a:srgbClr val="5A6577"/>
                </a:solidFill>
                <a:latin typeface="Helvetica Neue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rt-cra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05070B">
                  <a:alpha val="86000"/>
                </a:srgbClr>
              </a:gs>
              <a:gs pos="100000">
                <a:srgbClr val="05070B">
                  <a:alpha val="12000"/>
                </a:srgbClr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05070B">
                  <a:alpha val="0"/>
                </a:srgbClr>
              </a:gs>
              <a:gs pos="100000">
                <a:srgbClr val="05070B">
                  <a:alpha val="75000"/>
                </a:srgbClr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0080"/>
            <a:ext cx="54864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3AA0FF"/>
                </a:solidFill>
                <a:latin typeface="Helvetica Neue"/>
              </a:rPr>
              <a:t>MODE · LAND &amp; CROSS-BORDER TRANSPORT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80">
                <a:solidFill>
                  <a:srgbClr val="FFFFFF"/>
                </a:solidFill>
                <a:latin typeface="Helvetica Neue"/>
              </a:rPr>
              <a:t>Northbound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80">
                <a:solidFill>
                  <a:srgbClr val="3AA0FF"/>
                </a:solidFill>
                <a:latin typeface="Helvetica Neue"/>
              </a:rPr>
              <a:t>southbound transfers.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01184"/>
            <a:ext cx="22860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CC3CF"/>
                </a:solidFill>
                <a:latin typeface="Helvetica Neue"/>
              </a:rPr>
              <a:t>Daily cross-border movements at Texas ports of entry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285232"/>
            <a:ext cx="22860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138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CC3CF"/>
                </a:solidFill>
                <a:latin typeface="Helvetica Neue"/>
              </a:rPr>
              <a:t>Dedicated lanes for time-sensitive shipments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80"/>
            <a:ext cx="22860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2297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CC3CF"/>
                </a:solidFill>
                <a:latin typeface="Helvetica Neue"/>
              </a:rPr>
              <a:t>HAZMAT-certified transfers, full DOT/CBP compliance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053328"/>
            <a:ext cx="22860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90702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CC3CF"/>
                </a:solidFill>
                <a:latin typeface="Helvetica Neue"/>
              </a:rPr>
              <a:t>Cross-docking and trailer-to-trailer transfers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280">
                <a:solidFill>
                  <a:srgbClr val="5A6577"/>
                </a:solidFill>
                <a:latin typeface="Helvetica Neue"/>
              </a:rPr>
              <a:t>ISN CUSTOMS BROKER INTERNATIONAL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280">
                <a:solidFill>
                  <a:srgbClr val="5A6577"/>
                </a:solidFill>
                <a:latin typeface="Helvetica Neue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00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548640" cy="8000"/>
          </a:xfrm>
          <a:prstGeom prst="rect">
            <a:avLst/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0A84FF"/>
                </a:solidFill>
                <a:latin typeface="Helvetica Neue"/>
              </a:rPr>
              <a:t>SERVICE 03 · LOGISTICS &amp; WAREHOUSING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spc="-150">
                <a:solidFill>
                  <a:srgbClr val="05070B"/>
                </a:solidFill>
                <a:latin typeface="Helvetica Neue"/>
              </a:rPr>
              <a:t>Bonded facilities,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spc="-150">
                <a:solidFill>
                  <a:srgbClr val="0A84FF"/>
                </a:solidFill>
                <a:latin typeface="Helvetica Neue"/>
              </a:rPr>
              <a:t>always open.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7132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6577"/>
                </a:solidFill>
                <a:latin typeface="Helvetica Neue"/>
              </a:rPr>
              <a:t>Secured CBP-bonded warehouses and yards, contract logistics, and bonded carrier capability — with forklifts and heavy equipment on-site, 24/7, 365 days a year.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800600"/>
            <a:ext cx="37033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9377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0A84FF"/>
                </a:solidFill>
                <a:latin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663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-30">
                <a:solidFill>
                  <a:srgbClr val="05070B"/>
                </a:solidFill>
                <a:latin typeface="Helvetica Neue"/>
              </a:rPr>
              <a:t>Bonded warehouses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5A6577"/>
                </a:solidFill>
                <a:latin typeface="Helvetica Neue"/>
              </a:rPr>
              <a:t>CBP-bonded indoor storage. Cameras, access control, Class 1–11.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4800600"/>
            <a:ext cx="37033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9377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0A84FF"/>
                </a:solidFill>
                <a:latin typeface="Helvetica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1663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-30">
                <a:solidFill>
                  <a:srgbClr val="05070B"/>
                </a:solidFill>
                <a:latin typeface="Helvetica Neue"/>
              </a:rPr>
              <a:t>Bonded yards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57784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5A6577"/>
                </a:solidFill>
                <a:latin typeface="Helvetica Neue"/>
              </a:rPr>
              <a:t>Outdoor bonded storage for heavy equipment, tanks, oversized cargo.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800600"/>
            <a:ext cx="37033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49377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0A84FF"/>
                </a:solidFill>
                <a:latin typeface="Helvetica Neu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51663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-30">
                <a:solidFill>
                  <a:srgbClr val="05070B"/>
                </a:solidFill>
                <a:latin typeface="Helvetica Neue"/>
              </a:rPr>
              <a:t>Contract logistics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557784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5A6577"/>
                </a:solidFill>
                <a:latin typeface="Helvetica Neue"/>
              </a:rPr>
              <a:t>Dedicated programs tailored to ongoing client requirements.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172200"/>
            <a:ext cx="37033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3093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0A84FF"/>
                </a:solidFill>
                <a:latin typeface="Helvetica Neue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5379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-30">
                <a:solidFill>
                  <a:srgbClr val="05070B"/>
                </a:solidFill>
                <a:latin typeface="Helvetica Neue"/>
              </a:rPr>
              <a:t>Bonded carrier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94944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5A6577"/>
                </a:solidFill>
                <a:latin typeface="Helvetica Neue"/>
              </a:rPr>
              <a:t>Licensed in-transit movements between U.S. ports.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6172200"/>
            <a:ext cx="37033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63093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0A84FF"/>
                </a:solidFill>
                <a:latin typeface="Helvetica Neue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5379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-30">
                <a:solidFill>
                  <a:srgbClr val="05070B"/>
                </a:solidFill>
                <a:latin typeface="Helvetica Neue"/>
              </a:rPr>
              <a:t>Heavy equipment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94944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5A6577"/>
                </a:solidFill>
                <a:latin typeface="Helvetica Neue"/>
              </a:rPr>
              <a:t>Forklifts, cranes, top-loaders. Trained operators on standby.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6172200"/>
            <a:ext cx="37033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63093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0A84FF"/>
                </a:solidFill>
                <a:latin typeface="Helvetica Neue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65379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-30">
                <a:solidFill>
                  <a:srgbClr val="05070B"/>
                </a:solidFill>
                <a:latin typeface="Helvetica Neue"/>
              </a:rPr>
              <a:t>Cross-docking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694944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5A6577"/>
                </a:solidFill>
                <a:latin typeface="Helvetica Neue"/>
              </a:rPr>
              <a:t>Trailer-to-trailer transfers. Minimal handling, less dwell.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280">
                <a:solidFill>
                  <a:srgbClr val="8A93A3"/>
                </a:solidFill>
                <a:latin typeface="Helvetica Neue"/>
              </a:rPr>
              <a:t>ISN CUSTOMS BROKER INTERNATIONAL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280">
                <a:solidFill>
                  <a:srgbClr val="8A93A3"/>
                </a:solidFill>
                <a:latin typeface="Helvetica Neue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lobal-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54864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3AA0FF"/>
                </a:solidFill>
                <a:latin typeface="Helvetica Neue"/>
              </a:rPr>
              <a:t>GLOBAL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80">
                <a:solidFill>
                  <a:srgbClr val="FFFFFF"/>
                </a:solidFill>
                <a:latin typeface="Helvetica Neue"/>
              </a:rPr>
              <a:t>A border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80">
                <a:solidFill>
                  <a:srgbClr val="3AA0FF"/>
                </a:solidFill>
                <a:latin typeface="Helvetica Neue"/>
              </a:rPr>
              <a:t>with global reach.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8686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BCC3CF"/>
                </a:solidFill>
                <a:latin typeface="Helvetica Neue"/>
              </a:rPr>
              <a:t>Headquartered at one of the busiest commercial crossings on the U.S.–Mexico border, ISN clears and coordinates cargo at any U.S. port — and connects it to origin and destination markets on every continent.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280">
                <a:solidFill>
                  <a:srgbClr val="5A6577"/>
                </a:solidFill>
                <a:latin typeface="Helvetica Neue"/>
              </a:rPr>
              <a:t>ISN CUSTOMS BROKER INTERNATIONAL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280">
                <a:solidFill>
                  <a:srgbClr val="5A6577"/>
                </a:solidFill>
                <a:latin typeface="Helvetica Neue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54864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3AA0FF"/>
                </a:solidFill>
                <a:latin typeface="Helvetica Neue"/>
              </a:rPr>
              <a:t>OUR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spc="-140">
                <a:solidFill>
                  <a:srgbClr val="FFFFFF"/>
                </a:solidFill>
                <a:latin typeface="Helvetica Neue"/>
              </a:rPr>
              <a:t>No call centers.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spc="-140">
                <a:solidFill>
                  <a:srgbClr val="8A93A3"/>
                </a:solidFill>
                <a:latin typeface="Helvetica Neue"/>
              </a:rPr>
              <a:t>No look-up delays.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91840"/>
            <a:ext cx="3703320" cy="141732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3AA0FF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spc="-30">
                <a:solidFill>
                  <a:srgbClr val="FFFFFF"/>
                </a:solidFill>
                <a:latin typeface="Helvetica Neue"/>
              </a:rPr>
              <a:t>Direct CBP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3308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8A93A3"/>
                </a:solidFill>
                <a:latin typeface="Helvetica Neue"/>
              </a:rPr>
              <a:t>Established relationships with U.S. Customs for faster resolution.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3291840"/>
            <a:ext cx="3703320" cy="141732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42900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3AA0FF"/>
                </a:solidFill>
                <a:latin typeface="Helvetica Neu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7033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spc="-30">
                <a:solidFill>
                  <a:srgbClr val="FFFFFF"/>
                </a:solidFill>
                <a:latin typeface="Helvetica Neue"/>
              </a:rPr>
              <a:t>National permit (RLF)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13308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8A93A3"/>
                </a:solidFill>
                <a:latin typeface="Helvetica Neue"/>
              </a:rPr>
              <a:t>Clear shipments at any U.S. port from our Del Rio operations center.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291840"/>
            <a:ext cx="3703320" cy="141732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42900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3AA0FF"/>
                </a:solidFill>
                <a:latin typeface="Helvetica Neue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7033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spc="-30">
                <a:solidFill>
                  <a:srgbClr val="FFFFFF"/>
                </a:solidFill>
                <a:latin typeface="Helvetica Neue"/>
              </a:rPr>
              <a:t>Single point of 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13308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8A93A3"/>
                </a:solidFill>
                <a:latin typeface="Helvetica Neue"/>
              </a:rPr>
              <a:t>A dedicated account team backs every shipment. Priority response.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00600"/>
            <a:ext cx="3703320" cy="141732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3AA0FF"/>
                </a:solidFill>
                <a:latin typeface="Helvetica Neue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12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spc="-30">
                <a:solidFill>
                  <a:srgbClr val="FFFFFF"/>
                </a:solidFill>
                <a:latin typeface="Helvetica Neue"/>
              </a:rPr>
              <a:t>C-TPAT validated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4184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8A93A3"/>
                </a:solidFill>
                <a:latin typeface="Helvetica Neue"/>
              </a:rPr>
              <a:t>The highest standard of supply chain security recognized by U.S. Customs.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800600"/>
            <a:ext cx="3703320" cy="141732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9377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3AA0FF"/>
                </a:solidFill>
                <a:latin typeface="Helvetica Neue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212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spc="-30">
                <a:solidFill>
                  <a:srgbClr val="FFFFFF"/>
                </a:solidFill>
                <a:latin typeface="Helvetica Neue"/>
              </a:rPr>
              <a:t>Tailored solutions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64184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8A93A3"/>
                </a:solidFill>
                <a:latin typeface="Helvetica Neue"/>
              </a:rPr>
              <a:t>Programs built around your commodity, volume, and timing.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4800600"/>
            <a:ext cx="3703320" cy="141732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9377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3AA0FF"/>
                </a:solidFill>
                <a:latin typeface="Helvetica Neue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5212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spc="-30">
                <a:solidFill>
                  <a:srgbClr val="FFFFFF"/>
                </a:solidFill>
                <a:latin typeface="Helvetica Neue"/>
              </a:rPr>
              <a:t>Regional leadership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564184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8A93A3"/>
                </a:solidFill>
                <a:latin typeface="Helvetica Neue"/>
              </a:rPr>
              <a:t>Industry leaders across the Texas–Mexico border region.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280">
                <a:solidFill>
                  <a:srgbClr val="5A6577"/>
                </a:solidFill>
                <a:latin typeface="Helvetica Neue"/>
              </a:rPr>
              <a:t>ISN CUSTOMS BROKER INTERNATIONAL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280">
                <a:solidFill>
                  <a:srgbClr val="5A6577"/>
                </a:solidFill>
                <a:latin typeface="Helvetica Neue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00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548640" cy="8000"/>
          </a:xfrm>
          <a:prstGeom prst="rect">
            <a:avLst/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0A84FF"/>
                </a:solidFill>
                <a:latin typeface="Helvetica Neue"/>
              </a:rPr>
              <a:t>SUPPLY-CHAIN SECURITY</a:t>
            </a:r>
          </a:p>
        </p:txBody>
      </p:sp>
      <p:pic>
        <p:nvPicPr>
          <p:cNvPr id="6" name="Picture 5" descr="ctp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4114800" cy="357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210312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 spc="-220">
                <a:solidFill>
                  <a:srgbClr val="05070B"/>
                </a:solidFill>
                <a:latin typeface="Helvetica Neue"/>
              </a:rPr>
              <a:t>C-TPAT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01752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spc="-140">
                <a:solidFill>
                  <a:srgbClr val="0A84FF"/>
                </a:solidFill>
                <a:latin typeface="Helvetica Neue"/>
              </a:rPr>
              <a:t>validated member.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11480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5A6577"/>
                </a:solidFill>
                <a:latin typeface="Helvetica Neue"/>
              </a:rPr>
              <a:t>ISN participates in the Customs Trade Partnership Against Terrorism — the highest standard of supply chain security recognized by U.S. Customs and Border Protection. Validated processes. Verified people. Audited facilities.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280">
                <a:solidFill>
                  <a:srgbClr val="8A93A3"/>
                </a:solidFill>
                <a:latin typeface="Helvetica Neue"/>
              </a:rPr>
              <a:t>ISN CUSTOMS BROKER INTERNATIONAL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280">
                <a:solidFill>
                  <a:srgbClr val="8A93A3"/>
                </a:solidFill>
                <a:latin typeface="Helvetica Neue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54864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3AA0FF"/>
                </a:solidFill>
                <a:latin typeface="Helvetica Neue"/>
              </a:rPr>
              <a:t>TRUSTED BY INDUSTRY LEADERS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spc="-140">
                <a:solidFill>
                  <a:srgbClr val="FFFFFF"/>
                </a:solidFill>
                <a:latin typeface="Helvetica Neue"/>
              </a:rPr>
              <a:t>Selected clients across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spc="-50">
                <a:solidFill>
                  <a:srgbClr val="8A93A3"/>
                </a:solidFill>
                <a:latin typeface="Helvetica Neue"/>
              </a:rPr>
              <a:t>manufacturing, energy, automotive &amp; industrial.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91840"/>
            <a:ext cx="3703320" cy="64008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-20">
                <a:solidFill>
                  <a:srgbClr val="FFFFFF"/>
                </a:solidFill>
                <a:latin typeface="Helvetica Neue"/>
              </a:rPr>
              <a:t>Commercial Solutions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3291840"/>
            <a:ext cx="3703320" cy="64008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29184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-20">
                <a:solidFill>
                  <a:srgbClr val="FFFFFF"/>
                </a:solidFill>
                <a:latin typeface="Helvetica Neue"/>
              </a:rPr>
              <a:t>UnderTerra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3291840"/>
            <a:ext cx="3703320" cy="64008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29184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-20">
                <a:solidFill>
                  <a:srgbClr val="FFFFFF"/>
                </a:solidFill>
                <a:latin typeface="Helvetica Neue"/>
              </a:rPr>
              <a:t>Doer-Fer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05072"/>
            <a:ext cx="3703320" cy="64008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05072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-20">
                <a:solidFill>
                  <a:srgbClr val="FFFFFF"/>
                </a:solidFill>
                <a:latin typeface="Helvetica Neue"/>
              </a:rPr>
              <a:t>General Aluminum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4005072"/>
            <a:ext cx="3703320" cy="64008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005072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-20">
                <a:solidFill>
                  <a:srgbClr val="FFFFFF"/>
                </a:solidFill>
                <a:latin typeface="Helvetica Neue"/>
              </a:rPr>
              <a:t>Gentherm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005072"/>
            <a:ext cx="3703320" cy="64008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4005072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-20">
                <a:solidFill>
                  <a:srgbClr val="FFFFFF"/>
                </a:solidFill>
                <a:latin typeface="Helvetica Neue"/>
              </a:rPr>
              <a:t>General Electric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18304"/>
            <a:ext cx="3703320" cy="64008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18304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-20">
                <a:solidFill>
                  <a:srgbClr val="FFFFFF"/>
                </a:solidFill>
                <a:latin typeface="Helvetica Neue"/>
              </a:rPr>
              <a:t>NAFTA Traders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4718304"/>
            <a:ext cx="3703320" cy="64008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718304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-20">
                <a:solidFill>
                  <a:srgbClr val="FFFFFF"/>
                </a:solidFill>
                <a:latin typeface="Helvetica Neue"/>
              </a:rPr>
              <a:t>Beck Steel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18304"/>
            <a:ext cx="3703320" cy="64008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4718304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-20">
                <a:solidFill>
                  <a:srgbClr val="FFFFFF"/>
                </a:solidFill>
                <a:latin typeface="Helvetica Neue"/>
              </a:rPr>
              <a:t>ParkOhio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31536"/>
            <a:ext cx="3703320" cy="64008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31536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-20">
                <a:solidFill>
                  <a:srgbClr val="FFFFFF"/>
                </a:solidFill>
                <a:latin typeface="Helvetica Neue"/>
              </a:rPr>
              <a:t>Resco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5431536"/>
            <a:ext cx="3703320" cy="64008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5431536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-20">
                <a:solidFill>
                  <a:srgbClr val="FFFFFF"/>
                </a:solidFill>
                <a:latin typeface="Helvetica Neue"/>
              </a:rPr>
              <a:t>Sanford Enterprises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5431536"/>
            <a:ext cx="3703320" cy="640080"/>
          </a:xfrm>
          <a:prstGeom prst="rect">
            <a:avLst/>
          </a:prstGeom>
          <a:solidFill>
            <a:srgbClr val="12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5431536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-20">
                <a:solidFill>
                  <a:srgbClr val="FFFFFF"/>
                </a:solidFill>
                <a:latin typeface="Helvetica Neue"/>
              </a:rPr>
              <a:t>CSI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280">
                <a:solidFill>
                  <a:srgbClr val="5A6577"/>
                </a:solidFill>
                <a:latin typeface="Helvetica Neue"/>
              </a:rPr>
              <a:t>ISN CUSTOMS BROKER INTERNATIONAL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280">
                <a:solidFill>
                  <a:srgbClr val="5A6577"/>
                </a:solidFill>
                <a:latin typeface="Helvetica Neue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rt-truck-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isn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1554480" cy="90360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2651760"/>
            <a:ext cx="548640" cy="80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20">
                <a:solidFill>
                  <a:srgbClr val="3AA0FF"/>
                </a:solidFill>
                <a:latin typeface="Helvetica Neue"/>
              </a:rPr>
              <a:t>GET IN TOUCH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spc="-200">
                <a:solidFill>
                  <a:srgbClr val="FFFFFF"/>
                </a:solidFill>
                <a:latin typeface="Helvetica Neue"/>
              </a:rPr>
              <a:t>Let's move your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spc="-200">
                <a:solidFill>
                  <a:srgbClr val="3AA0FF"/>
                </a:solidFill>
                <a:latin typeface="Helvetica Neue"/>
              </a:rPr>
              <a:t>freight forward.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548640"/>
            <a:ext cx="4023360" cy="2011680"/>
          </a:xfrm>
          <a:prstGeom prst="rect">
            <a:avLst/>
          </a:prstGeom>
          <a:solidFill>
            <a:srgbClr val="121823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7772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280">
                <a:solidFill>
                  <a:srgbClr val="3AA0FF"/>
                </a:solidFill>
                <a:latin typeface="Helvetica Neue"/>
              </a:rPr>
              <a:t>ISN CUSTOMS BROKER INTERNATIONAL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1430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spc="-30">
                <a:solidFill>
                  <a:srgbClr val="FFFFFF"/>
                </a:solidFill>
                <a:latin typeface="Helvetica Neue"/>
              </a:rPr>
              <a:t>594 Industrial Blvd, Unit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4173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spc="-30">
                <a:solidFill>
                  <a:srgbClr val="FFFFFF"/>
                </a:solidFill>
                <a:latin typeface="Helvetica Neue"/>
              </a:rPr>
              <a:t>Del Rio, TX 78840 · USA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8745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CC3CF"/>
                </a:solidFill>
                <a:latin typeface="Helvetica Neue"/>
              </a:rPr>
              <a:t>(830) 775-1666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1488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CC3CF"/>
                </a:solidFill>
                <a:latin typeface="Helvetica Neue"/>
              </a:rPr>
              <a:t>isn@isnbroker.com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50">
                <a:solidFill>
                  <a:srgbClr val="3AA0FF"/>
                </a:solidFill>
                <a:latin typeface="Helvetica Neue"/>
              </a:rPr>
              <a:t>24 / 7  ·  365 days a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94360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280">
                <a:solidFill>
                  <a:srgbClr val="8A93A3"/>
                </a:solidFill>
                <a:latin typeface="Helvetica Neue"/>
              </a:rPr>
              <a:t>LICENSED U.S. CUSTOMS BROKER  ·  RLF NATIONWIDE  ·  C-TPAT VALIDATED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