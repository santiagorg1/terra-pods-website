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1371600" cy="797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69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COMPANY PROFILE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FFFFFF"/>
                </a:solidFill>
                <a:latin typeface="Helvetica Neue"/>
              </a:rPr>
              <a:t>Take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578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3AA0FF"/>
                </a:solidFill>
                <a:latin typeface="Helvetica Neue"/>
              </a:rPr>
              <a:t>of your border.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4864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Licensed U.S. customs brokerage,
freight forwarding, and integrated logistics.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One team for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entire border lifecycle.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BCC3CF"/>
                </a:solidFill>
                <a:latin typeface="Helvetica Neue"/>
              </a:rPr>
              <a:t>ISN Customs Broker International simplifies cross-border trade — licensed U.S. customs brokerage and integrated logistics under one accountable team. Compliant shipments. Predictable costs. Freight that keeps moving.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4023360"/>
            <a:ext cx="2468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85000"/>
              </a:lnSpc>
            </a:pPr>
            <a:r>
              <a:rPr sz="14000" b="1" spc="-50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55321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YEARS ON THE U.S.–MEXICO BORDER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FFFFFF"/>
                </a:solidFill>
                <a:latin typeface="Helvetica Neue"/>
              </a:rPr>
              <a:t>Operational scale,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8A93A3"/>
                </a:solidFill>
                <a:latin typeface="Helvetica Neue"/>
              </a:rPr>
              <a:t>verified by uptime.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Years on the
U.S.–Mexico border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24/7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Operations
365 days a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Licensed U.S.
customs filings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U.S. ports cleared
via Remote Filing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DRIVES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Simplify. Optimize.
Deliver.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Your goods, simplified across the border. We remove obstacles, reduce duty exposure, and give you predictable transit times — through one trusted point of contact.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2011680"/>
            <a:ext cx="6000" cy="393192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Lead with trust.
Move with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We treat your freight like it's our own — guided by C-TPAT validation and an unconditional dedication to safety, accuracy, and on-time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WE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Three integrated pillars.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One team. One invoice.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BCC3CF"/>
                </a:solidFill>
                <a:latin typeface="Helvetica Neue"/>
              </a:rPr>
              <a:t>Customs clearance, freight movement, and bonded storage — orchestrated under a single accountable point of contact.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Customs · Freight · Logistics</a:t>
            </a:r>
          </a:p>
        </p:txBody>
      </p:sp>
      <p:pic>
        <p:nvPicPr>
          <p:cNvPr id="6" name="Picture 5" descr="customs-insp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0"/>
            <a:ext cx="3657600" cy="1828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Customs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Brokerage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Licensed U.S. entry filing — ACE, ISF, AES, FTZ, in-bond, reconciliation, and bond services.</a:t>
            </a:r>
          </a:p>
        </p:txBody>
      </p:sp>
      <p:pic>
        <p:nvPicPr>
          <p:cNvPr id="13" name="Picture 12" descr="air-car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2651760"/>
            <a:ext cx="3657600" cy="18288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25112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5112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Freight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Forwarding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Northbound and southbound cargo by land, air, and ocean. HAZMAT-certified, cross-docked.</a:t>
            </a:r>
          </a:p>
        </p:txBody>
      </p:sp>
      <p:pic>
        <p:nvPicPr>
          <p:cNvPr id="20" name="Picture 19" descr="port-aeri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4" y="2651760"/>
            <a:ext cx="3657600" cy="1828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101584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1584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5904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Logistics &amp;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Warehousing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CBP-bonded warehouses, bonded yards, contract logistics. Forklifts and heavy equipment, 24/7.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01 · CUSTOMS BROKERAGE</a:t>
            </a:r>
          </a:p>
        </p:txBody>
      </p:sp>
      <p:pic>
        <p:nvPicPr>
          <p:cNvPr id="5" name="Picture 4" descr="customs-insp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12064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737360"/>
            <a:ext cx="5943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spc="-150">
                <a:solidFill>
                  <a:srgbClr val="FFFFFF"/>
                </a:solidFill>
                <a:latin typeface="Helvetica Neue"/>
              </a:rPr>
              <a:t>Licensed U.S.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423160"/>
            <a:ext cx="5943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spc="-150">
                <a:solidFill>
                  <a:srgbClr val="3AA0FF"/>
                </a:solidFill>
                <a:latin typeface="Helvetica Neue"/>
              </a:rPr>
              <a:t>customs clearance.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65760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Licensed brokers handle the full lifecycle of an import or export entry — from pre-arrival filing to post-entry reconciliation. Proactive duty-and-penalty avoidance built into every clearance.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CUSTOMS · FILING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spc="-130">
                <a:solidFill>
                  <a:srgbClr val="FFFFFF"/>
                </a:solidFill>
                <a:latin typeface="Helvetica Neue"/>
              </a:rPr>
              <a:t>Eight filings under one license.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ACE Entries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Pre-entry clearance via the Automated Commercial Environment.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ISF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ISF 10+2 Filing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Importer Security Filing submitted before vessel loading.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6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3056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AES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Automated Export System filing for U.S. outbound shipments.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0264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0264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4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FTZ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Foreign Trade Zones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Entries under FTZ status to defer or reduce duty.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In-Bond (QP/QX)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Bonded movement of merchandise between U.S. ports.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55848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5848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84448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Reconciliations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Post-entry reconciliation, GO, and Blue Letter responses.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63056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3056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TIB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Temporary Imports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656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TIB entries for goods entering the U.S. on a temporary basis.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0264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70264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98864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98864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ACH Payments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ACH statements and customs bond management.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istics-strateg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02 · FREIGHT FORWARDING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170">
                <a:solidFill>
                  <a:srgbClr val="FFFFFF"/>
                </a:solidFill>
                <a:latin typeface="Helvetica Neue"/>
              </a:rPr>
              <a:t>Moving cargo across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170">
                <a:solidFill>
                  <a:srgbClr val="3AA0FF"/>
                </a:solidFill>
                <a:latin typeface="Helvetica Neue"/>
              </a:rPr>
              <a:t>borders, oceans, and skies.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We coordinate the physical movement of your goods across the U.S.–Mexico border and beyond — trucking, ocean, and air freight under one accountable team. One invoice. No handoff gaps.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r-ca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0"/>
            <a:ext cx="62453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AIR FREIGHT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3035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FFFFFF"/>
                </a:solidFill>
                <a:latin typeface="Helvetica Neue"/>
              </a:rPr>
              <a:t>Air freight,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53035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3AA0FF"/>
                </a:solidFill>
                <a:latin typeface="Helvetica Neue"/>
              </a:rPr>
              <a:t>origin to destination.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16966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233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Coordinated international air cargo from global suppliers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2686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805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Time-critical handling at major U.S. gateways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8406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Door-to-door visibility and customs pre-clearance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4126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3949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handling, DOT/CBP compliant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t-aer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2453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45352" cy="68580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45352" y="0"/>
            <a:ext cx="5946343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922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OCEAN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5212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FFFFFF"/>
                </a:solidFill>
                <a:latin typeface="Helvetica Neue"/>
              </a:rPr>
              <a:t>Ocean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697480"/>
            <a:ext cx="5212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3AA0FF"/>
                </a:solidFill>
                <a:latin typeface="Helvetica Neue"/>
              </a:rPr>
              <a:t>&amp; port coordination.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416966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40233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FCL and LCL ocean coordination worldwide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462686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44805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ISF 10+2 filing pre-loaded against every booking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508406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49377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Drayage and cross-dock at U.S. ports of arrival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554126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53949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Direct relationships with carriers and port terminals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LAND TRANSPORT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Northbound &amp;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southbound transfers.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6402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Daily cross-border movements at Texas ports of 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1297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8348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Dedicated lanes for time-sensitive shipments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9554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3492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HAZMAT-certified transfers, full DOT/CBP compliance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86130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Cross-docking and trailer-to-trailer transfers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SERVICE 03 · LOGISTICS &amp; WAREHOUSING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5070B"/>
                </a:solidFill>
                <a:latin typeface="Helvetica Neue"/>
              </a:rPr>
              <a:t>Bonded facilities,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A84FF"/>
                </a:solidFill>
                <a:latin typeface="Helvetica Neue"/>
              </a:rPr>
              <a:t>always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7132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6577"/>
                </a:solidFill>
                <a:latin typeface="Helvetica Neue"/>
              </a:rPr>
              <a:t>Secured CBP-bonded warehouses and yards, contract logistics, and bonded carrier capability — with forklifts and heavy equipment on-site, 24/7, 365 days a year.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warehouses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CBP-bonded indoor storage. Cameras, access control, Class 1–11.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yards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Outdoor bonded storage for heavy equipment, tanks, oversized cargo.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Contract logistics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Dedicated programs tailored to ongoing client requirements.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carrier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Licensed in-transit movements between U.S. ports.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Heavy equipment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Forklifts, cranes, top-loaders. Trained operators on standby.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Cross-docking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Trailer-to-trailer transfers. Minimal handling, less dwell.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GLOBAL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 border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with global reach.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Headquartered at one of the busiest commercial crossings on the U.S.–Mexico border, ISN clears and coordinates cargo at any U.S. port — and connects it to origin and destination markets on every continent.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FFFFFF"/>
                </a:solidFill>
                <a:latin typeface="Helvetica Neue"/>
              </a:rPr>
              <a:t>No call centers.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8A93A3"/>
                </a:solidFill>
                <a:latin typeface="Helvetica Neue"/>
              </a:rPr>
              <a:t>No look-up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Direct CBP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Established relationships with U.S. Customs for faster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National permit (RLF)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Clear shipments at any U.S. port from our Del Rio operations center.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Single point of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 dedicated account team backs every shipment. Priority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C-TPAT validated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The highest standard of supply chain security recognized by U.S. Customs.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Tailored solutions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Programs built around your commodity, volume, and timing.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Regional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Industry leaders across the Texas–Mexico border region.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SUPPLY-CHAIN SECURITY</a:t>
            </a:r>
          </a:p>
        </p:txBody>
      </p:sp>
      <p:pic>
        <p:nvPicPr>
          <p:cNvPr id="6" name="Picture 5" descr="ctp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4114800" cy="357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210312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 spc="-220">
                <a:solidFill>
                  <a:srgbClr val="05070B"/>
                </a:solidFill>
                <a:latin typeface="Helvetica Neue"/>
              </a:rPr>
              <a:t>C-TPAT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17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0A84FF"/>
                </a:solidFill>
                <a:latin typeface="Helvetica Neue"/>
              </a:rPr>
              <a:t>validated 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1480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6577"/>
                </a:solidFill>
                <a:latin typeface="Helvetica Neue"/>
              </a:rPr>
              <a:t>ISN participates in the Customs Trade Partnership Against Terrorism — the highest standard of supply chain security recognized by U.S. Customs and Border Protection. Validated processes. Verified people. Audited facilities.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TRUSTED BY INDUSTRY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Selected clients across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spc="-50">
                <a:solidFill>
                  <a:srgbClr val="8A93A3"/>
                </a:solidFill>
                <a:latin typeface="Helvetica Neue"/>
              </a:rPr>
              <a:t>manufacturing, energy, automotive &amp; industrial.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91840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Commercial Solutions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3291840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329184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UnderTerra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3291840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3291840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Doer-Fer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05072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05072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General Aluminum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4005072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4005072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Gentherm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005072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4005072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General Electric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18304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18304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NAFTA Traders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4718304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718304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Beck Steel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4718304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4718304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ParkOhio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431536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31536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Resco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5431536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5431536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Sanford Enterprises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5431536"/>
            <a:ext cx="3703320" cy="6400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5431536"/>
            <a:ext cx="34290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-20">
                <a:solidFill>
                  <a:srgbClr val="FFFFFF"/>
                </a:solidFill>
                <a:latin typeface="Helvetica Neue"/>
              </a:rPr>
              <a:t>CSI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t-truck-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554480" cy="9036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265176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GET IN TOUCH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FFFFFF"/>
                </a:solidFill>
                <a:latin typeface="Helvetica Neue"/>
              </a:rPr>
              <a:t>Let's move your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3AA0FF"/>
                </a:solidFill>
                <a:latin typeface="Helvetica Neue"/>
              </a:rPr>
              <a:t>freight forward.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548640"/>
            <a:ext cx="4023360" cy="2011680"/>
          </a:xfrm>
          <a:prstGeom prst="rect">
            <a:avLst/>
          </a:prstGeom>
          <a:solidFill>
            <a:srgbClr val="121823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777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143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594 Industrial Blvd, Unit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4173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Del Rio, TX 78840 · 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(830) 775-1666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148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isn@isnbroker.com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50">
                <a:solidFill>
                  <a:srgbClr val="3AA0FF"/>
                </a:solidFill>
                <a:latin typeface="Helvetica Neue"/>
              </a:rPr>
              <a:t>24 / 7  ·  365 days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94360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280">
                <a:solidFill>
                  <a:srgbClr val="8A93A3"/>
                </a:solidFill>
                <a:latin typeface="Helvetica Neue"/>
              </a:rPr>
              <a:t>LICENSED U.S. CUSTOMS BROKER  ·  RLF NATIONWIDE  ·  C-TPAT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