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1.jpg"/><Relationship Id="rId4" Type="http://schemas.openxmlformats.org/officeDocument/2006/relationships/image" Target="../media/image29.jpg"/><Relationship Id="rId5" Type="http://schemas.openxmlformats.org/officeDocument/2006/relationships/image" Target="../media/image3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2.jpg"/><Relationship Id="rId4" Type="http://schemas.openxmlformats.org/officeDocument/2006/relationships/image" Target="../media/image30.jpg"/><Relationship Id="rId5" Type="http://schemas.openxmlformats.org/officeDocument/2006/relationships/image" Target="../media/image3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3.jpg"/><Relationship Id="rId4" Type="http://schemas.openxmlformats.org/officeDocument/2006/relationships/image" Target="../media/image31.jpg"/><Relationship Id="rId5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4.jpg"/><Relationship Id="rId4" Type="http://schemas.openxmlformats.org/officeDocument/2006/relationships/image" Target="../media/image32.jpg"/><Relationship Id="rId5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5.jpg"/><Relationship Id="rId4" Type="http://schemas.openxmlformats.org/officeDocument/2006/relationships/image" Target="../media/image33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39.png"/><Relationship Id="rId16" Type="http://schemas.openxmlformats.org/officeDocument/2006/relationships/image" Target="../media/image40.png"/><Relationship Id="rId17" Type="http://schemas.openxmlformats.org/officeDocument/2006/relationships/image" Target="../media/image41.png"/><Relationship Id="rId18" Type="http://schemas.openxmlformats.org/officeDocument/2006/relationships/image" Target="../media/image42.png"/><Relationship Id="rId19" Type="http://schemas.openxmlformats.org/officeDocument/2006/relationships/image" Target="../media/image43.png"/><Relationship Id="rId20" Type="http://schemas.openxmlformats.org/officeDocument/2006/relationships/image" Target="../media/image44.png"/><Relationship Id="rId21" Type="http://schemas.openxmlformats.org/officeDocument/2006/relationships/image" Target="../media/image45.png"/><Relationship Id="rId22" Type="http://schemas.openxmlformats.org/officeDocument/2006/relationships/image" Target="../media/image46.png"/><Relationship Id="rId23" Type="http://schemas.openxmlformats.org/officeDocument/2006/relationships/image" Target="../media/image47.png"/><Relationship Id="rId24" Type="http://schemas.openxmlformats.org/officeDocument/2006/relationships/image" Target="../media/image48.png"/><Relationship Id="rId25" Type="http://schemas.openxmlformats.org/officeDocument/2006/relationships/image" Target="../media/image49.png"/><Relationship Id="rId26" Type="http://schemas.openxmlformats.org/officeDocument/2006/relationships/image" Target="../media/image5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57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s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2377440" cy="138198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667512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86868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FULL-SERVICE GLOBAL LOGISTICS PROVIDER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37160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Customs Brokerage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00784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Freight Forwarding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02996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Ocean · Air ·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359152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Bonded Yard &amp; Freight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88336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Logistics Brokerage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1752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Import &amp; Export Solutions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69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COMPANY PROFILE  · 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000" b="1" spc="-200">
                <a:solidFill>
                  <a:srgbClr val="FFFFFF"/>
                </a:solidFill>
                <a:latin typeface="Helvetica Neue"/>
              </a:rPr>
              <a:t>Take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578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000" b="1" spc="-200">
                <a:solidFill>
                  <a:srgbClr val="3AA0FF"/>
                </a:solidFill>
                <a:latin typeface="Helvetica Neue"/>
              </a:rPr>
              <a:t>of your border.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One team for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entire border lifecycle.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 b="0">
                <a:solidFill>
                  <a:srgbClr val="BCC3CF"/>
                </a:solidFill>
                <a:latin typeface="Helvetica Neue"/>
              </a:rPr>
              <a:t>ISN Customs Broker International simplifies cross-border trade — licensed U.S. customs brokerage and integrated logistics under one accountable team. Compliant shipments. Predictable costs. Freight that keeps moving.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4023360"/>
            <a:ext cx="2468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85000"/>
              </a:lnSpc>
            </a:pPr>
            <a:r>
              <a:rPr sz="14000" b="1" spc="-50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55321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1" spc="280">
                <a:solidFill>
                  <a:srgbClr val="3AA0FF"/>
                </a:solidFill>
                <a:latin typeface="Helvetica Neue"/>
              </a:rPr>
              <a:t>YEARS ON THE U.S.–MEXICO BORDER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spc="-160">
                <a:solidFill>
                  <a:srgbClr val="FFFFFF"/>
                </a:solidFill>
                <a:latin typeface="Helvetica Neue"/>
              </a:rPr>
              <a:t>Operational scale,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spc="-160">
                <a:solidFill>
                  <a:srgbClr val="8A93A3"/>
                </a:solidFill>
                <a:latin typeface="Helvetica Neue"/>
              </a:rPr>
              <a:t>verified by uptime.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35+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Years on the
U.S.–Mexico border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24/7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Operations
365 days a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Licensed U.S.
customs filings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U.S. ports cleared
via Remote Filing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WHAT DRIVES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Simplify. Optimize.
Deliver.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Your goods, simplified across the border. We remove obstacles, reduce duty exposure, and give you predictable transit times — through one trusted point of contact.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2011680"/>
            <a:ext cx="6000" cy="393192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46888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Lead with trust.
Move with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We treat your freight like it's our own — guided by C-TPAT validation and an unconditional dedication to safety, accuracy, and on-time delivery.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lobal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WHAT WE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Three integrated pillars.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One team. One invoice.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BCC3CF"/>
                </a:solidFill>
                <a:latin typeface="Helvetica Neue"/>
              </a:rPr>
              <a:t>Customs clearance, freight movement, and bonded storage — orchestrated under a single accountable point of contact.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OUR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Customs · Freight · Logistics</a:t>
            </a:r>
          </a:p>
        </p:txBody>
      </p:sp>
      <p:pic>
        <p:nvPicPr>
          <p:cNvPr id="6" name="Picture 5" descr="customs-insp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0"/>
            <a:ext cx="3657600" cy="1828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Customs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Brokerage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Licensed U.S. entry filing — ACE, ISF, AES, FTZ, in-bond, reconciliation, and bond services.</a:t>
            </a:r>
          </a:p>
        </p:txBody>
      </p:sp>
      <p:pic>
        <p:nvPicPr>
          <p:cNvPr id="13" name="Picture 12" descr="air-car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2651760"/>
            <a:ext cx="3657600" cy="18288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25112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5112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Freight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Forwarding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Northbound and southbound cargo by land, air, and ocean. HAZMAT-certified, cross-docked.</a:t>
            </a:r>
          </a:p>
        </p:txBody>
      </p:sp>
      <p:pic>
        <p:nvPicPr>
          <p:cNvPr id="20" name="Picture 19" descr="port-aeri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584" y="2651760"/>
            <a:ext cx="3657600" cy="1828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101584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5904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01584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75904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Logistics &amp;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5904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Warehousing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CBP-bonded warehouses, bonded yards, contract logistics. Forklifts and heavy equipment, 24/7.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tGPT Image May 13, 2026, 05_16_37 PM.png"/>
          <p:cNvPicPr>
            <a:picLocks noChangeAspect="1"/>
          </p:cNvPicPr>
          <p:nvPr/>
        </p:nvPicPr>
        <p:blipFill>
          <a:blip r:embed="rId5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8000"/>
                </a:srgbClr>
              </a:gs>
              <a:gs pos="100000">
                <a:srgbClr val="05070B">
                  <a:alpha val="8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0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SERVICE 01 · CUSTOMS BROKERAGE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Licensed U.S.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customs clearance.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Licensed brokers handle the full lifecycle of an import or export entry — from pre-arrival filing to post-entry reconciliation. Proactive duty-and-penalty avoidance, built into every clearance.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CUSTOMS · FILING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spc="-130">
                <a:solidFill>
                  <a:srgbClr val="FFFFFF"/>
                </a:solidFill>
                <a:latin typeface="Helvetica Neue"/>
              </a:rPr>
              <a:t>Eight filings under one license.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ACE Entries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Pre-entry clearance via the Automated Commercial Environment.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5848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5848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ISF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ISF 10+2 Filing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Importer Security Filing submitted before vessel loading.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6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3056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AES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Automated Export System filing for U.S. outbound shipments.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0264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70264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8864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FTZ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Foreign Trade Zones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Entries under FTZ status to defer or reduce duty.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In-Bond (QP/QX)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Bonded movement of merchandise between U.S. ports.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55848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55848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84448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RC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4448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Reconciliations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Post-entry reconciliation, GO, and Blue Letter responses.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63056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63056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TIB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1656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Temporary Imports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1656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TIB entries for goods entering the U.S. on a temporary basis.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0264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70264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98864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98864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ACH Payments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98864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ACH statements and customs bond management.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tGPT Image May 13, 2026, 05_12_46 PM.png"/>
          <p:cNvPicPr>
            <a:picLocks noChangeAspect="1"/>
          </p:cNvPicPr>
          <p:nvPr/>
        </p:nvPicPr>
        <p:blipFill>
          <a:blip r:embed="rId5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2000"/>
                </a:srgbClr>
              </a:gs>
              <a:gs pos="100000">
                <a:srgbClr val="05070B">
                  <a:alpha val="20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5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SERVICE 02 · FREIGHT FORWARDING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Moving cargo across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borders, oceans, and skies.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Physical movement of your goods across the U.S.–Mexico border and beyond — trucking, ocean, and air freight under one accountable team. One invoice. No handoff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atGPT Image May 13, 2026, 05_06_49 PM.png"/>
          <p:cNvPicPr>
            <a:picLocks noChangeAspect="1"/>
          </p:cNvPicPr>
          <p:nvPr/>
        </p:nvPicPr>
        <p:blipFill>
          <a:blip r:embed="rId5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8000"/>
                </a:srgbClr>
              </a:gs>
              <a:gs pos="100000">
                <a:srgbClr val="05070B">
                  <a:alpha val="10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2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AIR FREIGHT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Air freight,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origin to destination.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Coordinated international air cargo from global suppliers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Time-critical handling at major U.S. gateways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Door-to-door visibility and customs pre-clearance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HAZMAT-certified handling, DOT/CBP compliant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atGPT Image May 13, 2026, 05_15_41 PM.png"/>
          <p:cNvPicPr>
            <a:picLocks noChangeAspect="1"/>
          </p:cNvPicPr>
          <p:nvPr/>
        </p:nvPicPr>
        <p:blipFill>
          <a:blip r:embed="rId5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6000"/>
                </a:srgbClr>
              </a:gs>
              <a:gs pos="100000">
                <a:srgbClr val="05070B">
                  <a:alpha val="12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2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OCEAN FREIGHT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8686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Ocean freight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&amp; port coordination.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FCL and LCL ocean coordination worldwide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ISF 10+2 filing pre-loaded against every booking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Drayage and cross-dock at U.S. ports of arrival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Direct relationships with carriers and port terminals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atGPT Image May 13, 2026, 05_09_59 PM.png"/>
          <p:cNvPicPr>
            <a:picLocks noChangeAspect="1"/>
          </p:cNvPicPr>
          <p:nvPr/>
        </p:nvPicPr>
        <p:blipFill>
          <a:blip r:embed="rId5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6000"/>
                </a:srgbClr>
              </a:gs>
              <a:gs pos="100000">
                <a:srgbClr val="05070B">
                  <a:alpha val="12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5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LAND &amp; CROSS-BORDER TRANSPORT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Northbound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southbound transfers.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Daily cross-border movements at Texas ports of entry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Dedicated lanes for time-sensitive shipments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HAZMAT-certified transfers, full DOT/CBP compliance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Cross-docking and trailer-to-trailer transfers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0A84FF"/>
                </a:solidFill>
                <a:latin typeface="Helvetica Neue"/>
              </a:rPr>
              <a:t>SERVICE 03 · LOGISTICS &amp; WAREHOUSING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05070B"/>
                </a:solidFill>
                <a:latin typeface="Helvetica Neue"/>
              </a:rPr>
              <a:t>Bonded facilities,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0A84FF"/>
                </a:solidFill>
                <a:latin typeface="Helvetica Neue"/>
              </a:rPr>
              <a:t>always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5A6577"/>
                </a:solidFill>
                <a:latin typeface="Helvetica Neue"/>
              </a:rPr>
              <a:t>Secured CBP-bonded warehouses and yards, contract logistics, and bonded carrier capability — with forklifts and heavy equipment on-site, 24/7, 365 days a year.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160520"/>
            <a:ext cx="3575304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251959"/>
            <a:ext cx="3118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71416"/>
            <a:ext cx="31181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warehouses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745736"/>
            <a:ext cx="31181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CBP-bonded indoor storage. Cameras, access control, Class 1–11.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6824" y="4160520"/>
            <a:ext cx="3575304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4251959"/>
            <a:ext cx="3118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4471416"/>
            <a:ext cx="31181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yards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4745736"/>
            <a:ext cx="31181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Outdoor bonded storage for heavy equipment, tanks, oversized cargo.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5008" y="4160520"/>
            <a:ext cx="3575304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4251959"/>
            <a:ext cx="3118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4471416"/>
            <a:ext cx="31181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Contract logistics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4745736"/>
            <a:ext cx="31181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Dedicated programs tailored to ongoing client requirements.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312664"/>
            <a:ext cx="3575304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404103"/>
            <a:ext cx="3118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23559"/>
            <a:ext cx="31181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carrier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97879"/>
            <a:ext cx="31181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Licensed in-transit movements between U.S. ports.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06824" y="5312664"/>
            <a:ext cx="3575304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5424" y="5404103"/>
            <a:ext cx="3118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5623559"/>
            <a:ext cx="31181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Heavy equipment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5897879"/>
            <a:ext cx="31181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Forklifts, cranes, top-loaders. Trained operators on standby.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65008" y="5312664"/>
            <a:ext cx="3575304" cy="950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3608" y="5404103"/>
            <a:ext cx="3118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5623559"/>
            <a:ext cx="311810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Cross-docking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3608" y="5897879"/>
            <a:ext cx="311810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Trailer-to-trailer transfers. Minimal handling, less dwell.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8A93A3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8A93A3"/>
                </a:solidFill>
                <a:latin typeface="Helvetica Neue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lobal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GLOBAL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A border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with global reach.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8686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Headquartered at one of the busiest commercial crossings on the U.S.–Mexico border, ISN clears and coordinates cargo at any U.S. port — and connects it to origin and destination markets on every continent.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OUR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FFFFFF"/>
                </a:solidFill>
                <a:latin typeface="Helvetica Neue"/>
              </a:rPr>
              <a:t>No call centers.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8A93A3"/>
                </a:solidFill>
                <a:latin typeface="Helvetica Neue"/>
              </a:rPr>
              <a:t>No look-up delays.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Direct CBP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Established relationships with U.S. Customs for faster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National permit (RLF)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Clear shipments at any U.S. port from our Del Rio operations center.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Single point of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 dedicated account team backs every shipment. Priority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C-TPAT validated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The highest standard of supply chain security recognized by U.S. Customs.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Tailored solutions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Programs built around your commodity, volume, and timing.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Regional leadership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Industry leaders across the Texas–Mexico border region.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0A84FF"/>
                </a:solidFill>
                <a:latin typeface="Helvetica Neue"/>
              </a:rPr>
              <a:t>SUPPLY-CHAIN SECURITY</a:t>
            </a:r>
          </a:p>
        </p:txBody>
      </p:sp>
      <p:pic>
        <p:nvPicPr>
          <p:cNvPr id="6" name="Picture 5" descr="ctp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4114800" cy="357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210312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 spc="-220">
                <a:solidFill>
                  <a:srgbClr val="05070B"/>
                </a:solidFill>
                <a:latin typeface="Helvetica Neue"/>
              </a:rPr>
              <a:t>C-TPAT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175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0A84FF"/>
                </a:solidFill>
                <a:latin typeface="Helvetica Neue"/>
              </a:rPr>
              <a:t>validated member.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1480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6577"/>
                </a:solidFill>
                <a:latin typeface="Helvetica Neue"/>
              </a:rPr>
              <a:t>ISN participates in the Customs Trade Partnership Against Terrorism — the highest standard of supply chain security recognized by U.S. Customs and Border Protection. Validated processes. Verified people. Audited facilities.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8A93A3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8A93A3"/>
                </a:solidFill>
                <a:latin typeface="Helvetica Neue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TRUSTED BY INDUSTRY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Selected clients across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spc="-50">
                <a:solidFill>
                  <a:srgbClr val="8A93A3"/>
                </a:solidFill>
                <a:latin typeface="Helvetica Neue"/>
              </a:rPr>
              <a:t>manufacturing, energy, automotive &amp; industrial.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17 / 18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6247" y="2999232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42869" y="2999232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1E2530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79492" y="2999232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316114" y="2999232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552736" y="2999232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6247" y="4105656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1E2530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42869" y="4105656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1E2530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79492" y="4105656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1E2530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6114" y="4105656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552736" y="4105656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842869" y="5212079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79492" y="5212079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16114" y="5212079"/>
            <a:ext cx="2029968" cy="1005840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3A41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urren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5703" y="3367062"/>
            <a:ext cx="1591056" cy="270179"/>
          </a:xfrm>
          <a:prstGeom prst="rect">
            <a:avLst/>
          </a:prstGeom>
        </p:spPr>
      </p:pic>
      <p:pic>
        <p:nvPicPr>
          <p:cNvPr id="47" name="Picture 46" descr="terrapod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16366" y="3172968"/>
            <a:ext cx="1282973" cy="658368"/>
          </a:xfrm>
          <a:prstGeom prst="rect">
            <a:avLst/>
          </a:prstGeom>
        </p:spPr>
      </p:pic>
      <p:pic>
        <p:nvPicPr>
          <p:cNvPr id="48" name="Picture 47" descr="resco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98948" y="3257692"/>
            <a:ext cx="1591056" cy="488918"/>
          </a:xfrm>
          <a:prstGeom prst="rect">
            <a:avLst/>
          </a:prstGeom>
        </p:spPr>
      </p:pic>
      <p:pic>
        <p:nvPicPr>
          <p:cNvPr id="49" name="Picture 48" descr="commercial-solutions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35570" y="3290497"/>
            <a:ext cx="1591056" cy="423308"/>
          </a:xfrm>
          <a:prstGeom prst="rect">
            <a:avLst/>
          </a:prstGeom>
        </p:spPr>
      </p:pic>
      <p:pic>
        <p:nvPicPr>
          <p:cNvPr id="50" name="Picture 49" descr="naft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277150" y="3172968"/>
            <a:ext cx="581140" cy="658368"/>
          </a:xfrm>
          <a:prstGeom prst="rect">
            <a:avLst/>
          </a:prstGeom>
        </p:spPr>
      </p:pic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" y="4482180"/>
            <a:ext cx="1591056" cy="252790"/>
          </a:xfrm>
          <a:prstGeom prst="rect">
            <a:avLst/>
          </a:prstGeom>
        </p:spPr>
      </p:pic>
      <p:pic>
        <p:nvPicPr>
          <p:cNvPr id="52" name="Picture 51" descr="becksteel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062325" y="4389280"/>
            <a:ext cx="1591056" cy="438590"/>
          </a:xfrm>
          <a:prstGeom prst="rect">
            <a:avLst/>
          </a:prstGeom>
        </p:spPr>
      </p:pic>
      <p:pic>
        <p:nvPicPr>
          <p:cNvPr id="53" name="Picture 52" descr="sanfor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298948" y="4426467"/>
            <a:ext cx="1591056" cy="364217"/>
          </a:xfrm>
          <a:prstGeom prst="rect">
            <a:avLst/>
          </a:prstGeom>
        </p:spPr>
      </p:pic>
      <p:pic>
        <p:nvPicPr>
          <p:cNvPr id="54" name="Picture 53" descr="doerfer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535570" y="4386256"/>
            <a:ext cx="1591056" cy="444638"/>
          </a:xfrm>
          <a:prstGeom prst="rect">
            <a:avLst/>
          </a:prstGeom>
        </p:spPr>
      </p:pic>
      <p:pic>
        <p:nvPicPr>
          <p:cNvPr id="55" name="Picture 54" descr="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801359" y="4279392"/>
            <a:ext cx="1532722" cy="658368"/>
          </a:xfrm>
          <a:prstGeom prst="rect">
            <a:avLst/>
          </a:prstGeom>
        </p:spPr>
      </p:pic>
      <p:pic>
        <p:nvPicPr>
          <p:cNvPr id="56" name="Picture 55" descr="parkohio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062325" y="5488792"/>
            <a:ext cx="1591056" cy="452414"/>
          </a:xfrm>
          <a:prstGeom prst="rect">
            <a:avLst/>
          </a:prstGeom>
        </p:spPr>
      </p:pic>
      <p:pic>
        <p:nvPicPr>
          <p:cNvPr id="57" name="Picture 56" descr="csi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515256" y="5385816"/>
            <a:ext cx="1158439" cy="658368"/>
          </a:xfrm>
          <a:prstGeom prst="rect">
            <a:avLst/>
          </a:prstGeom>
        </p:spPr>
      </p:pic>
      <p:pic>
        <p:nvPicPr>
          <p:cNvPr id="58" name="Picture 57" descr="general-aluminum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535570" y="5440719"/>
            <a:ext cx="1591056" cy="54856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t-truck-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s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554480" cy="9036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265176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GET IN TOUCH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spc="-200">
                <a:solidFill>
                  <a:srgbClr val="FFFFFF"/>
                </a:solidFill>
                <a:latin typeface="Helvetica Neue"/>
              </a:rPr>
              <a:t>Let's move your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spc="-200">
                <a:solidFill>
                  <a:srgbClr val="3AA0FF"/>
                </a:solidFill>
                <a:latin typeface="Helvetica Neue"/>
              </a:rPr>
              <a:t>freight forward.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548640"/>
            <a:ext cx="4023360" cy="2011680"/>
          </a:xfrm>
          <a:prstGeom prst="rect">
            <a:avLst/>
          </a:prstGeom>
          <a:solidFill>
            <a:srgbClr val="121823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7772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3AA0FF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143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-30">
                <a:solidFill>
                  <a:srgbClr val="FFFFFF"/>
                </a:solidFill>
                <a:latin typeface="Helvetica Neue"/>
              </a:rPr>
              <a:t>594 Industrial Blvd, Unit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4173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-30">
                <a:solidFill>
                  <a:srgbClr val="FFFFFF"/>
                </a:solidFill>
                <a:latin typeface="Helvetica Neue"/>
              </a:rPr>
              <a:t>Del Rio, TX 78840 · 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(830) 775-1666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148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isn@isnbroker.com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50">
                <a:solidFill>
                  <a:srgbClr val="3AA0FF"/>
                </a:solidFill>
                <a:latin typeface="Helvetica Neue"/>
              </a:rPr>
              <a:t>24 / 7  ·  365 days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94360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280">
                <a:solidFill>
                  <a:srgbClr val="8A93A3"/>
                </a:solidFill>
                <a:latin typeface="Helvetica Neue"/>
              </a:rPr>
              <a:t>LICENSED U.S. CUSTOMS BROKER  ·  RLF NATIONWIDE  ·  C-TPAT VALIDATED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