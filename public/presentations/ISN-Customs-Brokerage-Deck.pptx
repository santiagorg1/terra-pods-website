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-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7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2377440" cy="138198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667512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86868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FULL-SERVICE GLOBAL LOGISTICS PROVIDER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37160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Customs Brokerage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00784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Freight Forwarding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029968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Ocean · Air ·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59152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Bonded Yard &amp; Freight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88336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Logistics Brokerage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60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spc="-10">
                <a:solidFill>
                  <a:srgbClr val="FFFFFF"/>
                </a:solidFill>
                <a:latin typeface="Helvetica Neue"/>
              </a:rPr>
              <a:t>Import &amp; Export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690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COMPANY PROFILE  · 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FFFFFF"/>
                </a:solidFill>
                <a:latin typeface="Helvetica Neue"/>
              </a:rPr>
              <a:t>Take 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7000" b="1" spc="-200">
                <a:solidFill>
                  <a:srgbClr val="3AA0FF"/>
                </a:solidFill>
                <a:latin typeface="Helvetica Neue"/>
              </a:rPr>
              <a:t>of your border.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One team for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entire border lifecycle.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BCC3CF"/>
                </a:solidFill>
                <a:latin typeface="Helvetica Neue"/>
              </a:rPr>
              <a:t>ISN Customs Broker International simplifies cross-border trade — licensed U.S. customs brokerage and integrated logistics under one accountable team. Compliant shipments. Predictable costs. Freight that keeps moving.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4023360"/>
            <a:ext cx="2468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85000"/>
              </a:lnSpc>
            </a:pPr>
            <a:r>
              <a:rPr sz="14000" b="1" spc="-50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55321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YEARS ON THE U.S.–MEXICO BORDER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FFFFFF"/>
                </a:solidFill>
                <a:latin typeface="Helvetica Neue"/>
              </a:rPr>
              <a:t>Operational scale,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spc="-160">
                <a:solidFill>
                  <a:srgbClr val="8A93A3"/>
                </a:solidFill>
                <a:latin typeface="Helvetica Neue"/>
              </a:rPr>
              <a:t>verified by uptime.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Years on the
U.S.–Mexico border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24/7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Operations
365 days a year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Licensed U.S.
customs filings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4114800"/>
            <a:ext cx="8000" cy="173736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41148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spc="-200">
                <a:solidFill>
                  <a:srgbClr val="FFFFFF"/>
                </a:solidFill>
                <a:latin typeface="Helvetica Neue"/>
              </a:rPr>
              <a:t>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502920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 spc="250">
                <a:solidFill>
                  <a:srgbClr val="8A93A3"/>
                </a:solidFill>
                <a:latin typeface="Helvetica Neue"/>
              </a:rPr>
              <a:t>U.S. ports cleared
via Remote Filing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DRIVES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Simplify. Optimize.
Deliver.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Your goods, simplified across the border. We remove obstacles, reduce duty exposure, and give you predictable transit times — through one trusted point of contact.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2011680"/>
            <a:ext cx="6000" cy="393192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46888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Lead with trust.
Move with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976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We treat your freight like it's our own — guided by C-TPAT validation and an unconditional dedication to safety, accuracy, and on-time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WHAT WE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Three integrated pillars.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One team. One invoice.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3776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BCC3CF"/>
                </a:solidFill>
                <a:latin typeface="Helvetica Neue"/>
              </a:rPr>
              <a:t>Customs clearance, freight movement, and bonded storage — orchestrated under a single accountable point of contact.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Customs · Freight · Logistics</a:t>
            </a:r>
          </a:p>
        </p:txBody>
      </p:sp>
      <p:pic>
        <p:nvPicPr>
          <p:cNvPr id="6" name="Picture 5" descr="customs-insp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51760"/>
            <a:ext cx="3657600" cy="1828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Customs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Brokerage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Licensed U.S. entry filing — ACE, ISF, AES, FTZ, in-bond, reconciliation, and bond services.</a:t>
            </a:r>
          </a:p>
        </p:txBody>
      </p:sp>
      <p:pic>
        <p:nvPicPr>
          <p:cNvPr id="13" name="Picture 12" descr="air-car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2651760"/>
            <a:ext cx="3657600" cy="1828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325112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5112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Freight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Forwarding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Northbound and southbound cargo by land, air, and ocean. HAZMAT-certified, cross-docked.</a:t>
            </a:r>
          </a:p>
        </p:txBody>
      </p:sp>
      <p:pic>
        <p:nvPicPr>
          <p:cNvPr id="20" name="Picture 19" descr="port-aeria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1584" y="2651760"/>
            <a:ext cx="3657600" cy="1828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8101584" y="2651760"/>
            <a:ext cx="3657600" cy="1828800"/>
          </a:xfrm>
          <a:prstGeom prst="rect">
            <a:avLst/>
          </a:prstGeom>
          <a:solidFill>
            <a:srgbClr val="05070B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01584" y="4480560"/>
            <a:ext cx="3657600" cy="155448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75904" y="46634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FFFFFF"/>
                </a:solidFill>
                <a:latin typeface="Helvetica Neue"/>
              </a:rPr>
              <a:t>Logistics &amp;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5904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spc="-80">
                <a:solidFill>
                  <a:srgbClr val="3AA0FF"/>
                </a:solidFill>
                <a:latin typeface="Helvetica Neue"/>
              </a:rPr>
              <a:t>Warehousing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5532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BCC3CF"/>
                </a:solidFill>
                <a:latin typeface="Helvetica Neue"/>
              </a:rPr>
              <a:t>CBP-bonded warehouses, bonded yards, contract logistics. Forklifts and heavy equipment, 24/7.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8-customs-officer.jpg"/>
          <p:cNvPicPr>
            <a:picLocks noChangeAspect="1"/>
          </p:cNvPicPr>
          <p:nvPr/>
        </p:nvPicPr>
        <p:blipFill>
          <a:blip r:embed="rId3"/>
          <a:srcRect t="35962" b="3596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8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0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01 · CUSTOMS BROKERAGE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Licensed U.S.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5468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customs clearance.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6858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Licensed brokers handle the full lifecycle of an import or export entry — from pre-arrival filing to post-entry reconciliation. Proactive duty-and-penalty avoidance, built into every clearance.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CUSTOMS · FILING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spc="-130">
                <a:solidFill>
                  <a:srgbClr val="FFFFFF"/>
                </a:solidFill>
                <a:latin typeface="Helvetica Neue"/>
              </a:rPr>
              <a:t>Eight filings under one license.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ACE Entries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Pre-entry clearance via the Automated Commercial Environment.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5848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55848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ISF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ISF 10+2 Filing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Importer Security Filing submitted before vessel loading.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6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3056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AES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Automated Export System filing for U.S. outbound shipments.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0264" y="2743200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0264" y="2743200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4" y="292608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FTZ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324612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Foreign Trade Zones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3703320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Entries under FTZ status to defer or reduce duty.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In-Bond (QP/QX)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Bonded movement of merchandise between U.S. ports.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55848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55848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4448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84448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Reconciliations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Post-entry reconciliation, GO, and Blue Letter responses.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63056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63056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TIB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1656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Temporary Imports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656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TIB entries for goods entering the U.S. on a temporary basis.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70264" y="4773168"/>
            <a:ext cx="2697480" cy="192024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70264" y="4773168"/>
            <a:ext cx="411480" cy="15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98864" y="4956048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300">
                <a:solidFill>
                  <a:srgbClr val="3AA0FF"/>
                </a:solidFill>
                <a:latin typeface="Helvetica Neue"/>
              </a:rPr>
              <a:t>ACH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98864" y="5276088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spc="-40">
                <a:solidFill>
                  <a:srgbClr val="FFFFFF"/>
                </a:solidFill>
                <a:latin typeface="Helvetica Neue"/>
              </a:rPr>
              <a:t>ACH Payments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4" y="5733288"/>
            <a:ext cx="2240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ACH statements and customs bond management.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-aerial-logistics.jpg"/>
          <p:cNvPicPr>
            <a:picLocks noChangeAspect="1"/>
          </p:cNvPicPr>
          <p:nvPr/>
        </p:nvPicPr>
        <p:blipFill>
          <a:blip r:embed="rId3"/>
          <a:srcRect t="35962" b="3596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2000"/>
                </a:srgbClr>
              </a:gs>
              <a:gs pos="100000">
                <a:srgbClr val="05070B">
                  <a:alpha val="2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SERVICE 02 · FREIGHT FORWARDING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Moving cargo across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972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borders, oceans, and skies.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46320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Physical movement of your goods across the U.S.–Mexico border and beyond — trucking, ocean, and air freight under one accountable team. One invoice. No handoff gaps.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air-cargo.jpg"/>
          <p:cNvPicPr>
            <a:picLocks noChangeAspect="1"/>
          </p:cNvPicPr>
          <p:nvPr/>
        </p:nvPicPr>
        <p:blipFill>
          <a:blip r:embed="rId3"/>
          <a:srcRect t="35962" b="3596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8000"/>
                </a:srgbClr>
              </a:gs>
              <a:gs pos="100000">
                <a:srgbClr val="05070B">
                  <a:alpha val="10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AIR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Air freight,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origin to destination.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Coordinated international air cargo from global suppliers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Time-critical handling at major U.S. gateways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Door-to-door visibility and customs pre-clearance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handling, DOT/CBP compliant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3-container-ship.jpg"/>
          <p:cNvPicPr>
            <a:picLocks noChangeAspect="1"/>
          </p:cNvPicPr>
          <p:nvPr/>
        </p:nvPicPr>
        <p:blipFill>
          <a:blip r:embed="rId3"/>
          <a:srcRect t="35962" b="3596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2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OCEAN FREIGHT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8686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Ocean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&amp; port coordination.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FCL and LCL ocean coordination worldwide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ISF 10+2 filing pre-loaded against every booking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Drayage and cross-dock at U.S. ports of arrival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Direct relationships with carriers and port terminals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2-highway-truck.jpg"/>
          <p:cNvPicPr>
            <a:picLocks noChangeAspect="1"/>
          </p:cNvPicPr>
          <p:nvPr/>
        </p:nvPicPr>
        <p:blipFill>
          <a:blip r:embed="rId3"/>
          <a:srcRect t="35962" b="3596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86000"/>
                </a:srgbClr>
              </a:gs>
              <a:gs pos="100000">
                <a:srgbClr val="05070B">
                  <a:alpha val="12000"/>
                </a:srgbClr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5070B">
                  <a:alpha val="0"/>
                </a:srgbClr>
              </a:gs>
              <a:gs pos="100000">
                <a:srgbClr val="05070B">
                  <a:alpha val="75000"/>
                </a:srgbClr>
              </a:gs>
            </a:gsLst>
            <a:lin ang="54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MODE · LAND &amp; CROSS-BORDER TRANSPORT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Northbound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southbound transfers.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01184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Daily cross-border movements at Texas ports of entry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85232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Dedicated lanes for time-sensitive shipments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669280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229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HAZMAT-certified transfers, full DOT/CBP compliance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53328"/>
            <a:ext cx="22860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BCC3CF"/>
                </a:solidFill>
                <a:latin typeface="Helvetica Neue"/>
              </a:rPr>
              <a:t>Cross-docking and trailer-to-trailer transfers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SERVICE 03 · LOGISTICS &amp; WAREHOUSING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5070B"/>
                </a:solidFill>
                <a:latin typeface="Helvetica Neue"/>
              </a:rPr>
              <a:t>Bonded facilities,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spc="-150">
                <a:solidFill>
                  <a:srgbClr val="0A84FF"/>
                </a:solidFill>
                <a:latin typeface="Helvetica Neue"/>
              </a:rPr>
              <a:t>always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7132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6577"/>
                </a:solidFill>
                <a:latin typeface="Helvetica Neue"/>
              </a:rPr>
              <a:t>Secured CBP-bonded warehouses and yards, contract logistics, and bonded carrier capability — with forklifts and heavy equipment on-site, 24/7, 365 days a year.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CBP-bonded indoor storage. Cameras, access control, Class 1–11.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yards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Outdoor bonded storage for heavy equipment, tanks, oversized cargo.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8006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51663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Contract logistics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5778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Dedicated programs tailored to ongoing client requirements.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Bonded carrier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Licensed in-transit movements between U.S. ports.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Heavy equipment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Forklifts, cranes, top-loaders. Trained operators on standby.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38160" y="6172200"/>
            <a:ext cx="37033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60" y="63093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0A84FF"/>
                </a:solidFill>
                <a:latin typeface="Helvetica Neu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653796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-30">
                <a:solidFill>
                  <a:srgbClr val="05070B"/>
                </a:solidFill>
                <a:latin typeface="Helvetica Neue"/>
              </a:rPr>
              <a:t>Cross-docking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694944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5A6577"/>
                </a:solidFill>
                <a:latin typeface="Helvetica Neue"/>
              </a:rPr>
              <a:t>Trailer-to-trailer transfers. Minimal handling, less dwell.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lobal-netw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GLOBAL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FFFFFF"/>
                </a:solidFill>
                <a:latin typeface="Helvetica Neue"/>
              </a:rPr>
              <a:t>A border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spc="-180">
                <a:solidFill>
                  <a:srgbClr val="3AA0FF"/>
                </a:solidFill>
                <a:latin typeface="Helvetica Neue"/>
              </a:rPr>
              <a:t>with global reach.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BCC3CF"/>
                </a:solidFill>
                <a:latin typeface="Helvetica Neue"/>
              </a:rPr>
              <a:t>Headquartered at one of the busiest commercial crossings on the U.S.–Mexico border, ISN clears and coordinates cargo at any U.S. port — and connects it to origin and destination markets on every continent.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OUR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FFFFFF"/>
                </a:solidFill>
                <a:latin typeface="Helvetica Neue"/>
              </a:rPr>
              <a:t>No call centers.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8A93A3"/>
                </a:solidFill>
                <a:latin typeface="Helvetica Neue"/>
              </a:rPr>
              <a:t>No look-up delays.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Direct CBP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Established relationships with U.S. Customs for faster resolution.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National permit (RLF)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Clear shipments at any U.S. port from our Del Rio operations center.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29184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42900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70332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Single point of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13308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A dedicated account team backs every shipment. Priority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C-TPAT validated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The highest standard of supply chain security recognized by U.S. Customs.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Tailored solutions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Programs built around your commodity, volume, and timing.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4800600"/>
            <a:ext cx="3703320" cy="1417320"/>
          </a:xfrm>
          <a:prstGeom prst="rect">
            <a:avLst/>
          </a:prstGeom>
          <a:solidFill>
            <a:srgbClr val="12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93776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300">
                <a:solidFill>
                  <a:srgbClr val="3AA0FF"/>
                </a:solidFill>
                <a:latin typeface="Helvetica Neue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5212080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spc="-30">
                <a:solidFill>
                  <a:srgbClr val="FFFFFF"/>
                </a:solidFill>
                <a:latin typeface="Helvetica Neue"/>
              </a:rPr>
              <a:t>Regional leadership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6418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8A93A3"/>
                </a:solidFill>
                <a:latin typeface="Helvetica Neue"/>
              </a:rPr>
              <a:t>Industry leaders across the Texas–Mexico border region.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000"/>
          </a:xfrm>
          <a:prstGeom prst="rect">
            <a:avLst/>
          </a:prstGeom>
          <a:solidFill>
            <a:srgbClr val="2A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3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0A84FF"/>
                </a:solidFill>
                <a:latin typeface="Helvetica Neue"/>
              </a:rPr>
              <a:t>SUPPLY-CHAIN SECURITY</a:t>
            </a:r>
          </a:p>
        </p:txBody>
      </p:sp>
      <p:pic>
        <p:nvPicPr>
          <p:cNvPr id="6" name="Picture 5" descr="ctp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4114800" cy="357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210312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0" b="1" spc="-220">
                <a:solidFill>
                  <a:srgbClr val="05070B"/>
                </a:solidFill>
                <a:latin typeface="Helvetica Neue"/>
              </a:rPr>
              <a:t>C-TPAT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17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spc="-140">
                <a:solidFill>
                  <a:srgbClr val="0A84FF"/>
                </a:solidFill>
                <a:latin typeface="Helvetica Neue"/>
              </a:rPr>
              <a:t>validated member.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1480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6577"/>
                </a:solidFill>
                <a:latin typeface="Helvetica Neue"/>
              </a:rPr>
              <a:t>ISN participates in the Customs Trade Partnership Against Terrorism — the highest standard of supply chain security recognized by U.S. Customs and Border Protection. Validated processes. Verified people. Audited facilities.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8A93A3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8A93A3"/>
                </a:solidFill>
                <a:latin typeface="Helvetica Neue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TRUSTED BY INDUSTRY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40">
                <a:solidFill>
                  <a:srgbClr val="FFFFFF"/>
                </a:solidFill>
                <a:latin typeface="Helvetica Neue"/>
              </a:rPr>
              <a:t>Selected clients across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spc="-50">
                <a:solidFill>
                  <a:srgbClr val="8A93A3"/>
                </a:solidFill>
                <a:latin typeface="Helvetica Neue"/>
              </a:rPr>
              <a:t>manufacturing, energy, automotive &amp; industrial.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5A6577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280">
                <a:solidFill>
                  <a:srgbClr val="5A6577"/>
                </a:solidFill>
                <a:latin typeface="Helvetica Neue"/>
              </a:rPr>
              <a:t>17 / 18</a:t>
            </a:r>
          </a:p>
        </p:txBody>
      </p:sp>
      <p:pic>
        <p:nvPicPr>
          <p:cNvPr id="33" name="Picture 32" descr="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1" y="3512440"/>
            <a:ext cx="1889150" cy="320799"/>
          </a:xfrm>
          <a:prstGeom prst="rect">
            <a:avLst/>
          </a:prstGeom>
        </p:spPr>
      </p:pic>
      <p:pic>
        <p:nvPicPr>
          <p:cNvPr id="34" name="Picture 33" descr="terrap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834" y="3273552"/>
            <a:ext cx="1544614" cy="798575"/>
          </a:xfrm>
          <a:prstGeom prst="rect">
            <a:avLst/>
          </a:prstGeom>
        </p:spPr>
      </p:pic>
      <p:pic>
        <p:nvPicPr>
          <p:cNvPr id="35" name="Picture 34" descr="res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900" y="3382579"/>
            <a:ext cx="1889150" cy="580520"/>
          </a:xfrm>
          <a:prstGeom prst="rect">
            <a:avLst/>
          </a:prstGeom>
        </p:spPr>
      </p:pic>
      <p:pic>
        <p:nvPicPr>
          <p:cNvPr id="36" name="Picture 35" descr="commercial-solu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8235" y="3420623"/>
            <a:ext cx="1889150" cy="504432"/>
          </a:xfrm>
          <a:prstGeom prst="rect">
            <a:avLst/>
          </a:prstGeom>
        </p:spPr>
      </p:pic>
      <p:pic>
        <p:nvPicPr>
          <p:cNvPr id="37" name="Picture 36" descr="naft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3265" y="3273552"/>
            <a:ext cx="775759" cy="798575"/>
          </a:xfrm>
          <a:prstGeom prst="rect">
            <a:avLst/>
          </a:prstGeom>
        </p:spPr>
      </p:pic>
      <p:pic>
        <p:nvPicPr>
          <p:cNvPr id="38" name="Picture 37" descr="underterr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1" y="4559083"/>
            <a:ext cx="1889150" cy="300152"/>
          </a:xfrm>
          <a:prstGeom prst="rect">
            <a:avLst/>
          </a:prstGeom>
        </p:spPr>
      </p:pic>
      <p:pic>
        <p:nvPicPr>
          <p:cNvPr id="39" name="Picture 38" descr="beckstee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1566" y="4460843"/>
            <a:ext cx="1889150" cy="496632"/>
          </a:xfrm>
          <a:prstGeom prst="rect">
            <a:avLst/>
          </a:prstGeom>
        </p:spPr>
      </p:pic>
      <p:pic>
        <p:nvPicPr>
          <p:cNvPr id="40" name="Picture 39" descr="s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49900" y="4491958"/>
            <a:ext cx="1889150" cy="434403"/>
          </a:xfrm>
          <a:prstGeom prst="rect">
            <a:avLst/>
          </a:prstGeom>
        </p:spPr>
      </p:pic>
      <p:pic>
        <p:nvPicPr>
          <p:cNvPr id="41" name="Picture 40" descr="doerf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8235" y="4446073"/>
            <a:ext cx="1889150" cy="526172"/>
          </a:xfrm>
          <a:prstGeom prst="rect">
            <a:avLst/>
          </a:prstGeom>
        </p:spPr>
      </p:pic>
      <p:pic>
        <p:nvPicPr>
          <p:cNvPr id="42" name="Picture 41" descr="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2362" y="4309872"/>
            <a:ext cx="1677564" cy="798575"/>
          </a:xfrm>
          <a:prstGeom prst="rect">
            <a:avLst/>
          </a:prstGeom>
        </p:spPr>
      </p:pic>
      <p:pic>
        <p:nvPicPr>
          <p:cNvPr id="43" name="Picture 42" descr="parkohi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1566" y="5479118"/>
            <a:ext cx="1889150" cy="532722"/>
          </a:xfrm>
          <a:prstGeom prst="rect">
            <a:avLst/>
          </a:prstGeom>
        </p:spPr>
      </p:pic>
      <p:pic>
        <p:nvPicPr>
          <p:cNvPr id="44" name="Picture 43" descr="csi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3024" y="5346192"/>
            <a:ext cx="1402903" cy="798575"/>
          </a:xfrm>
          <a:prstGeom prst="rect">
            <a:avLst/>
          </a:prstGeom>
        </p:spPr>
      </p:pic>
      <p:pic>
        <p:nvPicPr>
          <p:cNvPr id="45" name="Picture 44" descr="general-aluminum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68235" y="5418045"/>
            <a:ext cx="1889150" cy="65486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t-truck-n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B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isn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554480" cy="9036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2651760"/>
            <a:ext cx="548640" cy="8000"/>
          </a:xfrm>
          <a:prstGeom prst="rect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320">
                <a:solidFill>
                  <a:srgbClr val="3AA0FF"/>
                </a:solidFill>
                <a:latin typeface="Helvetica Neue"/>
              </a:rPr>
              <a:t>GET IN TOUCH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FFFFFF"/>
                </a:solidFill>
                <a:latin typeface="Helvetica Neue"/>
              </a:rPr>
              <a:t>Let's move your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spc="-200">
                <a:solidFill>
                  <a:srgbClr val="3AA0FF"/>
                </a:solidFill>
                <a:latin typeface="Helvetica Neue"/>
              </a:rPr>
              <a:t>freight forward.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548640"/>
            <a:ext cx="4023360" cy="2011680"/>
          </a:xfrm>
          <a:prstGeom prst="rect">
            <a:avLst/>
          </a:prstGeom>
          <a:solidFill>
            <a:srgbClr val="121823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7772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280">
                <a:solidFill>
                  <a:srgbClr val="3AA0FF"/>
                </a:solidFill>
                <a:latin typeface="Helvetica Neue"/>
              </a:rPr>
              <a:t>ISN CUSTOMS BROKER INTERNATIONAL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1143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594 Industrial Blvd, Unit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4173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spc="-30">
                <a:solidFill>
                  <a:srgbClr val="FFFFFF"/>
                </a:solidFill>
                <a:latin typeface="Helvetica Neue"/>
              </a:rPr>
              <a:t>Del Rio, TX 78840 · USA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8745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(830) 775-1666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1488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BCC3CF"/>
                </a:solidFill>
                <a:latin typeface="Helvetica Neue"/>
              </a:rPr>
              <a:t>isn@isnbroker.com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50">
                <a:solidFill>
                  <a:srgbClr val="3AA0FF"/>
                </a:solidFill>
                <a:latin typeface="Helvetica Neue"/>
              </a:rPr>
              <a:t>24 / 7  ·  365 days a year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94360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280">
                <a:solidFill>
                  <a:srgbClr val="8A93A3"/>
                </a:solidFill>
                <a:latin typeface="Helvetica Neue"/>
              </a:rPr>
              <a:t>LICENSED U.S. CUSTOMS BROKER  ·  RLF NATIONWIDE  ·  C-TPAT VALIDATED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